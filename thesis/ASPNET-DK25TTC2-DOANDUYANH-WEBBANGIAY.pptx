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png"/><Relationship Id="rId9" Type="http://schemas.openxmlformats.org/officeDocument/2006/relationships/image" Target="../media/image18.png"/><Relationship Id="rId10" Type="http://schemas.openxmlformats.org/officeDocument/2006/relationships/image" Target="../media/image19.png"/><Relationship Id="rId11" Type="http://schemas.openxmlformats.org/officeDocument/2006/relationships/image" Target="../media/image2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2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png"/><Relationship Id="rId9" Type="http://schemas.openxmlformats.org/officeDocument/2006/relationships/image" Target="../media/image25.png"/><Relationship Id="rId10" Type="http://schemas.openxmlformats.org/officeDocument/2006/relationships/image" Target="../media/image26.png"/><Relationship Id="rId11" Type="http://schemas.openxmlformats.org/officeDocument/2006/relationships/image" Target="../media/image2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3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34.png"/><Relationship Id="rId6" Type="http://schemas.openxmlformats.org/officeDocument/2006/relationships/image" Target="../media/image3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image" Target="../media/image38.png"/><Relationship Id="rId6" Type="http://schemas.openxmlformats.org/officeDocument/2006/relationships/image" Target="../media/image3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0.png"/><Relationship Id="rId4" Type="http://schemas.openxmlformats.org/officeDocument/2006/relationships/image" Target="../media/image41.png"/><Relationship Id="rId5" Type="http://schemas.openxmlformats.org/officeDocument/2006/relationships/image" Target="../media/image42.png"/><Relationship Id="rId6" Type="http://schemas.openxmlformats.org/officeDocument/2006/relationships/image" Target="../media/image4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45.png"/><Relationship Id="rId6" Type="http://schemas.openxmlformats.org/officeDocument/2006/relationships/image" Target="../media/image4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7.png"/><Relationship Id="rId4" Type="http://schemas.openxmlformats.org/officeDocument/2006/relationships/image" Target="../media/image4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9.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2352675" y="3829050"/>
            <a:ext cx="7486650" cy="504825"/>
          </a:xfrm>
          <a:prstGeom prst="rect">
            <a:avLst/>
          </a:prstGeom>
        </p:spPr>
      </p:pic>
      <p:pic>
        <p:nvPicPr>
          <p:cNvPr id="4" name="Picture 3" descr="image.png"/>
          <p:cNvPicPr>
            <a:picLocks noChangeAspect="1"/>
          </p:cNvPicPr>
          <p:nvPr/>
        </p:nvPicPr>
        <p:blipFill>
          <a:blip r:embed="rId4"/>
          <a:stretch>
            <a:fillRect/>
          </a:stretch>
        </p:blipFill>
        <p:spPr>
          <a:xfrm>
            <a:off x="9525" y="9525"/>
            <a:ext cx="12172950" cy="5886450"/>
          </a:xfrm>
          <a:prstGeom prst="rect">
            <a:avLst/>
          </a:prstGeom>
        </p:spPr>
      </p:pic>
      <p:sp>
        <p:nvSpPr>
          <p:cNvPr id="5" name="TextBox 4"/>
          <p:cNvSpPr txBox="1"/>
          <p:nvPr/>
        </p:nvSpPr>
        <p:spPr>
          <a:xfrm>
            <a:off x="1821246" y="1571625"/>
            <a:ext cx="8549506" cy="1143000"/>
          </a:xfrm>
          <a:prstGeom prst="rect">
            <a:avLst/>
          </a:prstGeom>
          <a:noFill/>
        </p:spPr>
        <p:txBody>
          <a:bodyPr wrap="square" lIns="0" rIns="0" tIns="0" bIns="0" anchor="t">
            <a:spAutoFit/>
          </a:bodyPr>
          <a:lstStyle/>
          <a:p>
            <a:pPr algn="ctr">
              <a:lnSpc>
                <a:spcPts val="4500"/>
              </a:lnSpc>
            </a:pPr>
            <a:r>
              <a:rPr b="0" sz="3600" i="0" u="none">
                <a:solidFill>
                  <a:srgbClr val="FFFFFF"/>
                </a:solidFill>
                <a:latin typeface="Poppins SemiBold"/>
              </a:rPr>
              <a:t>BÁO CÁO TÓM TẮT ĐỒ ÁN</a:t>
            </a:r>
            <a:r>
              <a:t>
</a:t>
            </a:r>
            <a:r>
              <a:rPr b="0" sz="3600" i="0" u="none">
                <a:solidFill>
                  <a:srgbClr val="38BDF8"/>
                </a:solidFill>
                <a:latin typeface="Poppins SemiBold"/>
              </a:rPr>
              <a:t>WEBSITE BÁN GIÀY DÉP TRỰC TUYẾN</a:t>
            </a:r>
          </a:p>
        </p:txBody>
      </p:sp>
      <p:sp>
        <p:nvSpPr>
          <p:cNvPr id="6" name="TextBox 5"/>
          <p:cNvSpPr txBox="1"/>
          <p:nvPr/>
        </p:nvSpPr>
        <p:spPr>
          <a:xfrm>
            <a:off x="1809750" y="2905125"/>
            <a:ext cx="8572500" cy="542925"/>
          </a:xfrm>
          <a:prstGeom prst="rect">
            <a:avLst/>
          </a:prstGeom>
          <a:noFill/>
        </p:spPr>
        <p:txBody>
          <a:bodyPr wrap="square" lIns="0" rIns="0" tIns="0" bIns="0" anchor="t">
            <a:spAutoFit/>
          </a:bodyPr>
          <a:lstStyle/>
          <a:p>
            <a:pPr algn="ctr">
              <a:lnSpc>
                <a:spcPts val="2137"/>
              </a:lnSpc>
            </a:pPr>
            <a:r>
              <a:rPr b="0" sz="1425" i="0" u="none">
                <a:solidFill>
                  <a:srgbClr val="94A3B8"/>
                </a:solidFill>
                <a:latin typeface="Inter"/>
              </a:rPr>
              <a:t>Xây dựng hệ thống thương mại điện tử kinh doanh giày dép thời trang &amp; thể thao ứng dụng công nghệ ASP.NET và cơ sở dữ liệu SQL Server</a:t>
            </a:r>
          </a:p>
        </p:txBody>
      </p:sp>
      <p:sp>
        <p:nvSpPr>
          <p:cNvPr id="7" name="TextBox 6"/>
          <p:cNvSpPr txBox="1"/>
          <p:nvPr/>
        </p:nvSpPr>
        <p:spPr>
          <a:xfrm>
            <a:off x="2695575" y="3990975"/>
            <a:ext cx="1905000" cy="180975"/>
          </a:xfrm>
          <a:prstGeom prst="rect">
            <a:avLst/>
          </a:prstGeom>
          <a:noFill/>
        </p:spPr>
        <p:txBody>
          <a:bodyPr wrap="square" lIns="200025" rIns="0" tIns="0" bIns="0" anchor="t">
            <a:spAutoFit/>
          </a:bodyPr>
          <a:lstStyle/>
          <a:p>
            <a:pPr algn="ctr"/>
            <a:r>
              <a:rPr b="0" sz="1125" i="0" u="none">
                <a:solidFill>
                  <a:srgbClr val="CBD5E1"/>
                </a:solidFill>
                <a:latin typeface="Inter"/>
              </a:rPr>
              <a:t>Sinh viên: Đoàn Duy Anh</a:t>
            </a:r>
          </a:p>
        </p:txBody>
      </p:sp>
      <p:sp>
        <p:nvSpPr>
          <p:cNvPr id="8" name="TextBox 7"/>
          <p:cNvSpPr txBox="1"/>
          <p:nvPr/>
        </p:nvSpPr>
        <p:spPr>
          <a:xfrm>
            <a:off x="4933950" y="3990975"/>
            <a:ext cx="1371600" cy="180975"/>
          </a:xfrm>
          <a:prstGeom prst="rect">
            <a:avLst/>
          </a:prstGeom>
          <a:noFill/>
        </p:spPr>
        <p:txBody>
          <a:bodyPr wrap="square" lIns="257175" rIns="0" tIns="0" bIns="0" anchor="t">
            <a:spAutoFit/>
          </a:bodyPr>
          <a:lstStyle/>
          <a:p>
            <a:pPr algn="ctr"/>
            <a:r>
              <a:rPr b="0" sz="1125" i="0" u="none">
                <a:solidFill>
                  <a:srgbClr val="CBD5E1"/>
                </a:solidFill>
                <a:latin typeface="Inter"/>
              </a:rPr>
              <a:t>Lớp: DK25TTC2</a:t>
            </a:r>
          </a:p>
        </p:txBody>
      </p:sp>
      <p:sp>
        <p:nvSpPr>
          <p:cNvPr id="9" name="TextBox 8"/>
          <p:cNvSpPr txBox="1"/>
          <p:nvPr/>
        </p:nvSpPr>
        <p:spPr>
          <a:xfrm>
            <a:off x="6638925" y="3990975"/>
            <a:ext cx="2857500" cy="180975"/>
          </a:xfrm>
          <a:prstGeom prst="rect">
            <a:avLst/>
          </a:prstGeom>
          <a:noFill/>
        </p:spPr>
        <p:txBody>
          <a:bodyPr wrap="square" lIns="257175" rIns="0" tIns="0" bIns="0" anchor="t">
            <a:spAutoFit/>
          </a:bodyPr>
          <a:lstStyle/>
          <a:p>
            <a:pPr algn="ctr"/>
            <a:r>
              <a:rPr b="0" sz="1125" i="0" u="none">
                <a:solidFill>
                  <a:srgbClr val="CBD5E1"/>
                </a:solidFill>
                <a:latin typeface="Inter"/>
              </a:rPr>
              <a:t>Nền tảng: ASP.NET (C#) &amp; SQL Server</a:t>
            </a:r>
          </a:p>
        </p:txBody>
      </p:sp>
      <p:pic>
        <p:nvPicPr>
          <p:cNvPr id="10" name="Picture 9" descr="image.png"/>
          <p:cNvPicPr>
            <a:picLocks noChangeAspect="1"/>
          </p:cNvPicPr>
          <p:nvPr/>
        </p:nvPicPr>
        <p:blipFill>
          <a:blip r:embed="rId5"/>
          <a:stretch>
            <a:fillRect/>
          </a:stretch>
        </p:blipFill>
        <p:spPr>
          <a:xfrm>
            <a:off x="2695575" y="4010025"/>
            <a:ext cx="123825" cy="142875"/>
          </a:xfrm>
          <a:prstGeom prst="rect">
            <a:avLst/>
          </a:prstGeom>
        </p:spPr>
      </p:pic>
      <p:pic>
        <p:nvPicPr>
          <p:cNvPr id="11" name="Picture 10" descr="image.png"/>
          <p:cNvPicPr>
            <a:picLocks noChangeAspect="1"/>
          </p:cNvPicPr>
          <p:nvPr/>
        </p:nvPicPr>
        <p:blipFill>
          <a:blip r:embed="rId6"/>
          <a:stretch>
            <a:fillRect/>
          </a:stretch>
        </p:blipFill>
        <p:spPr>
          <a:xfrm>
            <a:off x="4933950" y="4010025"/>
            <a:ext cx="180975" cy="142875"/>
          </a:xfrm>
          <a:prstGeom prst="rect">
            <a:avLst/>
          </a:prstGeom>
        </p:spPr>
      </p:pic>
      <p:pic>
        <p:nvPicPr>
          <p:cNvPr id="12" name="Picture 11" descr="image.png"/>
          <p:cNvPicPr>
            <a:picLocks noChangeAspect="1"/>
          </p:cNvPicPr>
          <p:nvPr/>
        </p:nvPicPr>
        <p:blipFill>
          <a:blip r:embed="rId7"/>
          <a:stretch>
            <a:fillRect/>
          </a:stretch>
        </p:blipFill>
        <p:spPr>
          <a:xfrm>
            <a:off x="6638925" y="4010025"/>
            <a:ext cx="180975" cy="142875"/>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2219265" y="2857500"/>
            <a:ext cx="7753469" cy="742950"/>
          </a:xfrm>
          <a:prstGeom prst="rect">
            <a:avLst/>
          </a:prstGeom>
          <a:noFill/>
        </p:spPr>
        <p:txBody>
          <a:bodyPr wrap="square" lIns="0" rIns="0" tIns="0" bIns="0" anchor="t">
            <a:spAutoFit/>
          </a:bodyPr>
          <a:lstStyle/>
          <a:p>
            <a:pPr algn="ctr"/>
            <a:r>
              <a:rPr b="0" sz="3900" i="0" u="none">
                <a:solidFill>
                  <a:srgbClr val="FFFFFF"/>
                </a:solidFill>
                <a:latin typeface="Poppins SemiBold"/>
              </a:rPr>
              <a:t>01. TỔNG QUAN &amp; ĐẶT VẤN ĐỀ</a:t>
            </a:r>
          </a:p>
        </p:txBody>
      </p:sp>
      <p:sp>
        <p:nvSpPr>
          <p:cNvPr id="4" name="TextBox 3"/>
          <p:cNvSpPr txBox="1"/>
          <p:nvPr/>
        </p:nvSpPr>
        <p:spPr>
          <a:xfrm>
            <a:off x="2524125" y="3743325"/>
            <a:ext cx="7143750" cy="571500"/>
          </a:xfrm>
          <a:prstGeom prst="rect">
            <a:avLst/>
          </a:prstGeom>
          <a:noFill/>
        </p:spPr>
        <p:txBody>
          <a:bodyPr wrap="square" lIns="0" rIns="0" tIns="0" bIns="0" anchor="t">
            <a:spAutoFit/>
          </a:bodyPr>
          <a:lstStyle/>
          <a:p>
            <a:pPr algn="ctr">
              <a:lnSpc>
                <a:spcPts val="2250"/>
              </a:lnSpc>
            </a:pPr>
            <a:r>
              <a:rPr b="0" sz="1500" i="0" u="none">
                <a:solidFill>
                  <a:srgbClr val="94A3B8"/>
                </a:solidFill>
                <a:latin typeface="Inter"/>
              </a:rPr>
              <a:t>Lý do chọn đề tài, tính cấp thiết và mục tiêu nghiên cứu của đồ án xây dựng website bán giày dép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81025" y="2432595"/>
            <a:ext cx="5324475" cy="2619375"/>
          </a:xfrm>
          <a:prstGeom prst="rect">
            <a:avLst/>
          </a:prstGeom>
        </p:spPr>
      </p:pic>
      <p:pic>
        <p:nvPicPr>
          <p:cNvPr id="4" name="Picture 3" descr="image.png"/>
          <p:cNvPicPr>
            <a:picLocks noChangeAspect="1"/>
          </p:cNvPicPr>
          <p:nvPr/>
        </p:nvPicPr>
        <p:blipFill>
          <a:blip r:embed="rId4"/>
          <a:stretch>
            <a:fillRect/>
          </a:stretch>
        </p:blipFill>
        <p:spPr>
          <a:xfrm>
            <a:off x="6286500" y="2432595"/>
            <a:ext cx="5324475" cy="2619375"/>
          </a:xfrm>
          <a:prstGeom prst="rect">
            <a:avLst/>
          </a:prstGeom>
        </p:spPr>
      </p:pic>
      <p:sp>
        <p:nvSpPr>
          <p:cNvPr id="5" name="TextBox 4"/>
          <p:cNvSpPr txBox="1"/>
          <p:nvPr/>
        </p:nvSpPr>
        <p:spPr>
          <a:xfrm>
            <a:off x="876300" y="2727870"/>
            <a:ext cx="4970621" cy="314325"/>
          </a:xfrm>
          <a:prstGeom prst="rect">
            <a:avLst/>
          </a:prstGeom>
          <a:noFill/>
        </p:spPr>
        <p:txBody>
          <a:bodyPr wrap="square" lIns="304800" rIns="0" tIns="0" bIns="0" anchor="t">
            <a:spAutoFit/>
          </a:bodyPr>
          <a:lstStyle/>
          <a:p>
            <a:pPr algn="l"/>
            <a:r>
              <a:rPr b="0" sz="1650" i="0" u="none">
                <a:solidFill>
                  <a:srgbClr val="38BDF8"/>
                </a:solidFill>
                <a:latin typeface="Poppins SemiBold"/>
              </a:rPr>
              <a:t>Nhu Cầu Mua Sắm Trực Tuyến</a:t>
            </a:r>
          </a:p>
        </p:txBody>
      </p:sp>
      <p:sp>
        <p:nvSpPr>
          <p:cNvPr id="6" name="TextBox 5"/>
          <p:cNvSpPr txBox="1"/>
          <p:nvPr/>
        </p:nvSpPr>
        <p:spPr>
          <a:xfrm>
            <a:off x="876300" y="3156495"/>
            <a:ext cx="4733925" cy="914400"/>
          </a:xfrm>
          <a:prstGeom prst="rect">
            <a:avLst/>
          </a:prstGeom>
          <a:noFill/>
        </p:spPr>
        <p:txBody>
          <a:bodyPr wrap="square" lIns="0" rIns="0" tIns="0" bIns="0" anchor="t">
            <a:spAutoFit/>
          </a:bodyPr>
          <a:lstStyle/>
          <a:p>
            <a:pPr algn="l">
              <a:lnSpc>
                <a:spcPts val="1800"/>
              </a:lnSpc>
            </a:pPr>
            <a:r>
              <a:rPr b="0" sz="1200" i="0" u="none">
                <a:solidFill>
                  <a:srgbClr val="94A3B8"/>
                </a:solidFill>
                <a:latin typeface="Inter"/>
              </a:rPr>
              <a:t>Giày dép thời trang và thể thao là mặt hàng tiêu dùng thiết yếu với tốc độ tăng trưởng thương mại điện tử cao. Khách hàng mong muốn mua sắm tiện lợi, tra cứu chi tiết thông tin và xem kích cỡ trực quan.</a:t>
            </a:r>
          </a:p>
        </p:txBody>
      </p:sp>
      <p:sp>
        <p:nvSpPr>
          <p:cNvPr id="7" name="TextBox 6"/>
          <p:cNvSpPr txBox="1"/>
          <p:nvPr/>
        </p:nvSpPr>
        <p:spPr>
          <a:xfrm>
            <a:off x="876300" y="4185195"/>
            <a:ext cx="4733925" cy="457200"/>
          </a:xfrm>
          <a:prstGeom prst="rect">
            <a:avLst/>
          </a:prstGeom>
          <a:noFill/>
        </p:spPr>
        <p:txBody>
          <a:bodyPr wrap="square" lIns="0" rIns="0" tIns="0" bIns="0" anchor="t">
            <a:spAutoFit/>
          </a:bodyPr>
          <a:lstStyle/>
          <a:p>
            <a:pPr algn="l">
              <a:lnSpc>
                <a:spcPts val="1800"/>
              </a:lnSpc>
            </a:pPr>
            <a:r>
              <a:rPr b="0" sz="1200" i="0" u="none">
                <a:solidFill>
                  <a:srgbClr val="94A3B8"/>
                </a:solidFill>
                <a:latin typeface="Inter"/>
              </a:rPr>
              <a:t>Các cửa hàng truyền thống gặp khó khăn về chi phí thuê mặt bằng và giới hạn bán bán hàng địa lý.</a:t>
            </a:r>
          </a:p>
        </p:txBody>
      </p:sp>
      <p:sp>
        <p:nvSpPr>
          <p:cNvPr id="8" name="TextBox 7"/>
          <p:cNvSpPr txBox="1"/>
          <p:nvPr/>
        </p:nvSpPr>
        <p:spPr>
          <a:xfrm>
            <a:off x="6581775" y="2727870"/>
            <a:ext cx="4970621" cy="314325"/>
          </a:xfrm>
          <a:prstGeom prst="rect">
            <a:avLst/>
          </a:prstGeom>
          <a:noFill/>
        </p:spPr>
        <p:txBody>
          <a:bodyPr wrap="square" lIns="361950" rIns="0" tIns="0" bIns="0" anchor="t">
            <a:spAutoFit/>
          </a:bodyPr>
          <a:lstStyle/>
          <a:p>
            <a:pPr algn="l"/>
            <a:r>
              <a:rPr b="0" sz="1650" i="0" u="none">
                <a:solidFill>
                  <a:srgbClr val="38BDF8"/>
                </a:solidFill>
                <a:latin typeface="Poppins SemiBold"/>
              </a:rPr>
              <a:t>Giải Pháp Công Nghệ ASP.NET</a:t>
            </a:r>
          </a:p>
        </p:txBody>
      </p:sp>
      <p:sp>
        <p:nvSpPr>
          <p:cNvPr id="9" name="TextBox 8"/>
          <p:cNvSpPr txBox="1"/>
          <p:nvPr/>
        </p:nvSpPr>
        <p:spPr>
          <a:xfrm>
            <a:off x="6581775" y="3156495"/>
            <a:ext cx="4733925" cy="685800"/>
          </a:xfrm>
          <a:prstGeom prst="rect">
            <a:avLst/>
          </a:prstGeom>
          <a:noFill/>
        </p:spPr>
        <p:txBody>
          <a:bodyPr wrap="square" lIns="0" rIns="0" tIns="0" bIns="0" anchor="t">
            <a:spAutoFit/>
          </a:bodyPr>
          <a:lstStyle/>
          <a:p>
            <a:pPr algn="l">
              <a:lnSpc>
                <a:spcPts val="1800"/>
              </a:lnSpc>
            </a:pPr>
            <a:r>
              <a:rPr b="0" sz="1200" i="0" u="none">
                <a:solidFill>
                  <a:srgbClr val="94A3B8"/>
                </a:solidFill>
                <a:latin typeface="Inter"/>
              </a:rPr>
              <a:t>Ứng dụng công nghệ </a:t>
            </a:r>
            <a:r>
              <a:rPr b="1" sz="1200" i="0" u="none">
                <a:solidFill>
                  <a:srgbClr val="94A3B8"/>
                </a:solidFill>
                <a:latin typeface="Inter"/>
              </a:rPr>
              <a:t>ASP.NET (C#)</a:t>
            </a:r>
            <a:r>
              <a:rPr b="0" sz="1200" i="0" u="none">
                <a:solidFill>
                  <a:srgbClr val="94A3B8"/>
                </a:solidFill>
                <a:latin typeface="Inter"/>
              </a:rPr>
              <a:t> giúp xây dựng một website bán giày dép bảo mật, độ tin cậy cao, khả năng xử lý truy vấn dữ liệu nhanh chóng và dễ dàng mở rộng quy mô kinh doanh.</a:t>
            </a:r>
          </a:p>
        </p:txBody>
      </p:sp>
      <p:sp>
        <p:nvSpPr>
          <p:cNvPr id="10" name="TextBox 9"/>
          <p:cNvSpPr txBox="1"/>
          <p:nvPr/>
        </p:nvSpPr>
        <p:spPr>
          <a:xfrm>
            <a:off x="6581775" y="3956595"/>
            <a:ext cx="4733925" cy="457200"/>
          </a:xfrm>
          <a:prstGeom prst="rect">
            <a:avLst/>
          </a:prstGeom>
          <a:noFill/>
        </p:spPr>
        <p:txBody>
          <a:bodyPr wrap="square" lIns="0" rIns="0" tIns="0" bIns="0" anchor="t">
            <a:spAutoFit/>
          </a:bodyPr>
          <a:lstStyle/>
          <a:p>
            <a:pPr algn="l">
              <a:lnSpc>
                <a:spcPts val="1800"/>
              </a:lnSpc>
            </a:pPr>
            <a:r>
              <a:rPr b="0" sz="1200" i="0" u="none">
                <a:solidFill>
                  <a:srgbClr val="94A3B8"/>
                </a:solidFill>
                <a:latin typeface="Inter"/>
              </a:rPr>
              <a:t>Chuẩn hóa toàn bộ quy trình từ giới thiệu sản phẩm đến đặt hàng và quản lý kho hàng tự động.</a:t>
            </a:r>
          </a:p>
        </p:txBody>
      </p:sp>
      <p:pic>
        <p:nvPicPr>
          <p:cNvPr id="11" name="Picture 10" descr="image.png"/>
          <p:cNvPicPr>
            <a:picLocks noChangeAspect="1"/>
          </p:cNvPicPr>
          <p:nvPr/>
        </p:nvPicPr>
        <p:blipFill>
          <a:blip r:embed="rId5"/>
          <a:stretch>
            <a:fillRect/>
          </a:stretch>
        </p:blipFill>
        <p:spPr>
          <a:xfrm>
            <a:off x="876300" y="2775495"/>
            <a:ext cx="209550" cy="209550"/>
          </a:xfrm>
          <a:prstGeom prst="rect">
            <a:avLst/>
          </a:prstGeom>
        </p:spPr>
      </p:pic>
      <p:pic>
        <p:nvPicPr>
          <p:cNvPr id="12" name="Picture 11" descr="image.png"/>
          <p:cNvPicPr>
            <a:picLocks noChangeAspect="1"/>
          </p:cNvPicPr>
          <p:nvPr/>
        </p:nvPicPr>
        <p:blipFill>
          <a:blip r:embed="rId6"/>
          <a:stretch>
            <a:fillRect/>
          </a:stretch>
        </p:blipFill>
        <p:spPr>
          <a:xfrm>
            <a:off x="6581775" y="2775495"/>
            <a:ext cx="266700" cy="209550"/>
          </a:xfrm>
          <a:prstGeom prst="rect">
            <a:avLst/>
          </a:prstGeom>
        </p:spPr>
      </p:pic>
      <p:sp>
        <p:nvSpPr>
          <p:cNvPr id="13" name="TextBox 12"/>
          <p:cNvSpPr txBox="1"/>
          <p:nvPr/>
        </p:nvSpPr>
        <p:spPr>
          <a:xfrm>
            <a:off x="723900" y="485775"/>
            <a:ext cx="11431428" cy="388590"/>
          </a:xfrm>
          <a:prstGeom prst="rect">
            <a:avLst/>
          </a:prstGeom>
          <a:noFill/>
        </p:spPr>
        <p:txBody>
          <a:bodyPr wrap="square" lIns="0" rIns="0" tIns="0" bIns="0" anchor="t">
            <a:spAutoFit/>
          </a:bodyPr>
          <a:lstStyle/>
          <a:p>
            <a:pPr algn="l">
              <a:lnSpc>
                <a:spcPts val="3060"/>
              </a:lnSpc>
            </a:pPr>
            <a:r>
              <a:rPr b="0" sz="2550" i="0" u="none">
                <a:solidFill>
                  <a:srgbClr val="F8FAFC"/>
                </a:solidFill>
                <a:latin typeface="Poppins SemiBold"/>
              </a:rPr>
              <a:t>Tính Cấp Thiết </a:t>
            </a:r>
            <a:r>
              <a:rPr b="0" sz="2550" i="0" u="none">
                <a:solidFill>
                  <a:srgbClr val="38BDF8"/>
                </a:solidFill>
                <a:latin typeface="Poppins SemiBold"/>
              </a:rPr>
              <a:t>Của Đề Tài</a:t>
            </a:r>
          </a:p>
        </p:txBody>
      </p:sp>
      <p:sp>
        <p:nvSpPr>
          <p:cNvPr id="14" name="Rectangle 13"/>
          <p:cNvSpPr/>
          <p:nvPr/>
        </p:nvSpPr>
        <p:spPr>
          <a:xfrm>
            <a:off x="581025" y="485775"/>
            <a:ext cx="47625" cy="38859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81025" y="2442120"/>
            <a:ext cx="3517850" cy="2600325"/>
          </a:xfrm>
          <a:prstGeom prst="rect">
            <a:avLst/>
          </a:prstGeom>
        </p:spPr>
      </p:pic>
      <p:pic>
        <p:nvPicPr>
          <p:cNvPr id="4" name="Picture 3" descr="image.png"/>
          <p:cNvPicPr>
            <a:picLocks noChangeAspect="1"/>
          </p:cNvPicPr>
          <p:nvPr/>
        </p:nvPicPr>
        <p:blipFill>
          <a:blip r:embed="rId4"/>
          <a:stretch>
            <a:fillRect/>
          </a:stretch>
        </p:blipFill>
        <p:spPr>
          <a:xfrm>
            <a:off x="4337000" y="2442120"/>
            <a:ext cx="3517850" cy="2600325"/>
          </a:xfrm>
          <a:prstGeom prst="rect">
            <a:avLst/>
          </a:prstGeom>
        </p:spPr>
      </p:pic>
      <p:pic>
        <p:nvPicPr>
          <p:cNvPr id="5" name="Picture 4" descr="image.png"/>
          <p:cNvPicPr>
            <a:picLocks noChangeAspect="1"/>
          </p:cNvPicPr>
          <p:nvPr/>
        </p:nvPicPr>
        <p:blipFill>
          <a:blip r:embed="rId5"/>
          <a:stretch>
            <a:fillRect/>
          </a:stretch>
        </p:blipFill>
        <p:spPr>
          <a:xfrm>
            <a:off x="8092975" y="2442120"/>
            <a:ext cx="3517850" cy="2600325"/>
          </a:xfrm>
          <a:prstGeom prst="rect">
            <a:avLst/>
          </a:prstGeom>
        </p:spPr>
      </p:pic>
      <p:pic>
        <p:nvPicPr>
          <p:cNvPr id="6" name="Picture 5" descr="image.png"/>
          <p:cNvPicPr>
            <a:picLocks noChangeAspect="1"/>
          </p:cNvPicPr>
          <p:nvPr/>
        </p:nvPicPr>
        <p:blipFill>
          <a:blip r:embed="rId6"/>
          <a:stretch>
            <a:fillRect/>
          </a:stretch>
        </p:blipFill>
        <p:spPr>
          <a:xfrm>
            <a:off x="819150" y="2718345"/>
            <a:ext cx="619125" cy="619125"/>
          </a:xfrm>
          <a:prstGeom prst="rect">
            <a:avLst/>
          </a:prstGeom>
        </p:spPr>
      </p:pic>
      <p:sp>
        <p:nvSpPr>
          <p:cNvPr id="7" name="TextBox 6"/>
          <p:cNvSpPr txBox="1"/>
          <p:nvPr/>
        </p:nvSpPr>
        <p:spPr>
          <a:xfrm>
            <a:off x="819150" y="3508920"/>
            <a:ext cx="3193680" cy="285750"/>
          </a:xfrm>
          <a:prstGeom prst="rect">
            <a:avLst/>
          </a:prstGeom>
          <a:noFill/>
        </p:spPr>
        <p:txBody>
          <a:bodyPr wrap="square" lIns="0" rIns="0" tIns="0" bIns="0" anchor="t">
            <a:spAutoFit/>
          </a:bodyPr>
          <a:lstStyle/>
          <a:p>
            <a:pPr algn="l"/>
            <a:r>
              <a:rPr b="0" sz="1500" i="0" u="none">
                <a:solidFill>
                  <a:srgbClr val="F8FAFC"/>
                </a:solidFill>
                <a:latin typeface="Poppins SemiBold"/>
              </a:rPr>
              <a:t>Giao Diện Khách Hàng</a:t>
            </a:r>
          </a:p>
        </p:txBody>
      </p:sp>
      <p:sp>
        <p:nvSpPr>
          <p:cNvPr id="8" name="TextBox 7"/>
          <p:cNvSpPr txBox="1"/>
          <p:nvPr/>
        </p:nvSpPr>
        <p:spPr>
          <a:xfrm>
            <a:off x="819150" y="3908970"/>
            <a:ext cx="3041600" cy="857250"/>
          </a:xfrm>
          <a:prstGeom prst="rect">
            <a:avLst/>
          </a:prstGeom>
          <a:noFill/>
        </p:spPr>
        <p:txBody>
          <a:bodyPr wrap="square" lIns="0" rIns="0" tIns="0" bIns="0" anchor="t">
            <a:spAutoFit/>
          </a:bodyPr>
          <a:lstStyle/>
          <a:p>
            <a:pPr algn="l">
              <a:lnSpc>
                <a:spcPts val="1687"/>
              </a:lnSpc>
            </a:pPr>
            <a:r>
              <a:rPr b="0" sz="1125" i="0" u="none">
                <a:solidFill>
                  <a:srgbClr val="94A3B8"/>
                </a:solidFill>
                <a:latin typeface="Inter"/>
              </a:rPr>
              <a:t>Xây dựng trang bán hàng hiện đại, thân thiện, tương thích đa thiết bị (Responsive), hỗ trợ xem ảnh, lọc sản phẩm theo size, màu sắc và giá bán.</a:t>
            </a:r>
          </a:p>
        </p:txBody>
      </p:sp>
      <p:pic>
        <p:nvPicPr>
          <p:cNvPr id="9" name="Picture 8" descr="image.png"/>
          <p:cNvPicPr>
            <a:picLocks noChangeAspect="1"/>
          </p:cNvPicPr>
          <p:nvPr/>
        </p:nvPicPr>
        <p:blipFill>
          <a:blip r:embed="rId7"/>
          <a:stretch>
            <a:fillRect/>
          </a:stretch>
        </p:blipFill>
        <p:spPr>
          <a:xfrm>
            <a:off x="4575125" y="2718345"/>
            <a:ext cx="619125" cy="619125"/>
          </a:xfrm>
          <a:prstGeom prst="rect">
            <a:avLst/>
          </a:prstGeom>
        </p:spPr>
      </p:pic>
      <p:sp>
        <p:nvSpPr>
          <p:cNvPr id="10" name="TextBox 9"/>
          <p:cNvSpPr txBox="1"/>
          <p:nvPr/>
        </p:nvSpPr>
        <p:spPr>
          <a:xfrm>
            <a:off x="4575125" y="3508920"/>
            <a:ext cx="3193680" cy="285750"/>
          </a:xfrm>
          <a:prstGeom prst="rect">
            <a:avLst/>
          </a:prstGeom>
          <a:noFill/>
        </p:spPr>
        <p:txBody>
          <a:bodyPr wrap="square" lIns="0" rIns="0" tIns="0" bIns="0" anchor="t">
            <a:spAutoFit/>
          </a:bodyPr>
          <a:lstStyle/>
          <a:p>
            <a:pPr algn="l"/>
            <a:r>
              <a:rPr b="0" sz="1500" i="0" u="none">
                <a:solidFill>
                  <a:srgbClr val="F8FAFC"/>
                </a:solidFill>
                <a:latin typeface="Poppins SemiBold"/>
              </a:rPr>
              <a:t>Hệ Thống Quản Trị</a:t>
            </a:r>
          </a:p>
        </p:txBody>
      </p:sp>
      <p:sp>
        <p:nvSpPr>
          <p:cNvPr id="11" name="TextBox 10"/>
          <p:cNvSpPr txBox="1"/>
          <p:nvPr/>
        </p:nvSpPr>
        <p:spPr>
          <a:xfrm>
            <a:off x="4575125" y="3908970"/>
            <a:ext cx="3041600" cy="857250"/>
          </a:xfrm>
          <a:prstGeom prst="rect">
            <a:avLst/>
          </a:prstGeom>
          <a:noFill/>
        </p:spPr>
        <p:txBody>
          <a:bodyPr wrap="square" lIns="0" rIns="0" tIns="0" bIns="0" anchor="t">
            <a:spAutoFit/>
          </a:bodyPr>
          <a:lstStyle/>
          <a:p>
            <a:pPr algn="l">
              <a:lnSpc>
                <a:spcPts val="1687"/>
              </a:lnSpc>
            </a:pPr>
            <a:r>
              <a:rPr b="0" sz="1125" i="0" u="none">
                <a:solidFill>
                  <a:srgbClr val="94A3B8"/>
                </a:solidFill>
                <a:latin typeface="Inter"/>
              </a:rPr>
              <a:t>Phát triển phân hệ Admin đầy đủ chức năng quản lý danh mục, loại giày, thương hiệu, sản phẩm, quản lý đơn hàng và tài khoản người dùng.</a:t>
            </a:r>
          </a:p>
        </p:txBody>
      </p:sp>
      <p:pic>
        <p:nvPicPr>
          <p:cNvPr id="12" name="Picture 11" descr="image.png"/>
          <p:cNvPicPr>
            <a:picLocks noChangeAspect="1"/>
          </p:cNvPicPr>
          <p:nvPr/>
        </p:nvPicPr>
        <p:blipFill>
          <a:blip r:embed="rId8"/>
          <a:stretch>
            <a:fillRect/>
          </a:stretch>
        </p:blipFill>
        <p:spPr>
          <a:xfrm>
            <a:off x="8331100" y="2718345"/>
            <a:ext cx="619125" cy="619125"/>
          </a:xfrm>
          <a:prstGeom prst="rect">
            <a:avLst/>
          </a:prstGeom>
        </p:spPr>
      </p:pic>
      <p:sp>
        <p:nvSpPr>
          <p:cNvPr id="13" name="TextBox 12"/>
          <p:cNvSpPr txBox="1"/>
          <p:nvPr/>
        </p:nvSpPr>
        <p:spPr>
          <a:xfrm>
            <a:off x="8331100" y="3508920"/>
            <a:ext cx="3193680" cy="285750"/>
          </a:xfrm>
          <a:prstGeom prst="rect">
            <a:avLst/>
          </a:prstGeom>
          <a:noFill/>
        </p:spPr>
        <p:txBody>
          <a:bodyPr wrap="square" lIns="0" rIns="0" tIns="0" bIns="0" anchor="t">
            <a:spAutoFit/>
          </a:bodyPr>
          <a:lstStyle/>
          <a:p>
            <a:pPr algn="l"/>
            <a:r>
              <a:rPr b="0" sz="1500" i="0" u="none">
                <a:solidFill>
                  <a:srgbClr val="F8FAFC"/>
                </a:solidFill>
                <a:latin typeface="Poppins SemiBold"/>
              </a:rPr>
              <a:t>Làm Chủ Công Nghệ</a:t>
            </a:r>
          </a:p>
        </p:txBody>
      </p:sp>
      <p:sp>
        <p:nvSpPr>
          <p:cNvPr id="14" name="TextBox 13"/>
          <p:cNvSpPr txBox="1"/>
          <p:nvPr/>
        </p:nvSpPr>
        <p:spPr>
          <a:xfrm>
            <a:off x="8331100" y="3908970"/>
            <a:ext cx="3041600" cy="857250"/>
          </a:xfrm>
          <a:prstGeom prst="rect">
            <a:avLst/>
          </a:prstGeom>
          <a:noFill/>
        </p:spPr>
        <p:txBody>
          <a:bodyPr wrap="square" lIns="0" rIns="0" tIns="0" bIns="0" anchor="t">
            <a:spAutoFit/>
          </a:bodyPr>
          <a:lstStyle/>
          <a:p>
            <a:pPr algn="l">
              <a:lnSpc>
                <a:spcPts val="1687"/>
              </a:lnSpc>
            </a:pPr>
            <a:r>
              <a:rPr b="0" sz="1125" i="0" u="none">
                <a:solidFill>
                  <a:srgbClr val="94A3B8"/>
                </a:solidFill>
                <a:latin typeface="Inter"/>
              </a:rPr>
              <a:t>Nắm vững tư duy lập trình ASP.NET (C#), thiết kế chuẩn hóa cơ sở dữ liệu trên SQL Server và kỹ năng kết nối dữ liệu Entity Framework / ADO.NET.</a:t>
            </a:r>
          </a:p>
        </p:txBody>
      </p:sp>
      <p:pic>
        <p:nvPicPr>
          <p:cNvPr id="15" name="Picture 14" descr="image.png"/>
          <p:cNvPicPr>
            <a:picLocks noChangeAspect="1"/>
          </p:cNvPicPr>
          <p:nvPr/>
        </p:nvPicPr>
        <p:blipFill>
          <a:blip r:embed="rId9"/>
          <a:stretch>
            <a:fillRect/>
          </a:stretch>
        </p:blipFill>
        <p:spPr>
          <a:xfrm>
            <a:off x="933450" y="2856458"/>
            <a:ext cx="390525" cy="342900"/>
          </a:xfrm>
          <a:prstGeom prst="rect">
            <a:avLst/>
          </a:prstGeom>
        </p:spPr>
      </p:pic>
      <p:pic>
        <p:nvPicPr>
          <p:cNvPr id="16" name="Picture 15" descr="image.png"/>
          <p:cNvPicPr>
            <a:picLocks noChangeAspect="1"/>
          </p:cNvPicPr>
          <p:nvPr/>
        </p:nvPicPr>
        <p:blipFill>
          <a:blip r:embed="rId10"/>
          <a:stretch>
            <a:fillRect/>
          </a:stretch>
        </p:blipFill>
        <p:spPr>
          <a:xfrm>
            <a:off x="4732287" y="2856458"/>
            <a:ext cx="304800" cy="342900"/>
          </a:xfrm>
          <a:prstGeom prst="rect">
            <a:avLst/>
          </a:prstGeom>
        </p:spPr>
      </p:pic>
      <p:pic>
        <p:nvPicPr>
          <p:cNvPr id="17" name="Picture 16" descr="image.png"/>
          <p:cNvPicPr>
            <a:picLocks noChangeAspect="1"/>
          </p:cNvPicPr>
          <p:nvPr/>
        </p:nvPicPr>
        <p:blipFill>
          <a:blip r:embed="rId11"/>
          <a:stretch>
            <a:fillRect/>
          </a:stretch>
        </p:blipFill>
        <p:spPr>
          <a:xfrm>
            <a:off x="8488263" y="2856458"/>
            <a:ext cx="304800" cy="342900"/>
          </a:xfrm>
          <a:prstGeom prst="rect">
            <a:avLst/>
          </a:prstGeom>
        </p:spPr>
      </p:pic>
      <p:sp>
        <p:nvSpPr>
          <p:cNvPr id="18" name="TextBox 17"/>
          <p:cNvSpPr txBox="1"/>
          <p:nvPr/>
        </p:nvSpPr>
        <p:spPr>
          <a:xfrm>
            <a:off x="723900" y="485775"/>
            <a:ext cx="11431428" cy="388590"/>
          </a:xfrm>
          <a:prstGeom prst="rect">
            <a:avLst/>
          </a:prstGeom>
          <a:noFill/>
        </p:spPr>
        <p:txBody>
          <a:bodyPr wrap="square" lIns="0" rIns="0" tIns="0" bIns="0" anchor="t">
            <a:spAutoFit/>
          </a:bodyPr>
          <a:lstStyle/>
          <a:p>
            <a:pPr algn="l">
              <a:lnSpc>
                <a:spcPts val="3060"/>
              </a:lnSpc>
            </a:pPr>
            <a:r>
              <a:rPr b="0" sz="2550" i="0" u="none">
                <a:solidFill>
                  <a:srgbClr val="F8FAFC"/>
                </a:solidFill>
                <a:latin typeface="Poppins SemiBold"/>
              </a:rPr>
              <a:t>Mục Tiêu </a:t>
            </a:r>
            <a:r>
              <a:rPr b="0" sz="2550" i="0" u="none">
                <a:solidFill>
                  <a:srgbClr val="38BDF8"/>
                </a:solidFill>
                <a:latin typeface="Poppins SemiBold"/>
              </a:rPr>
              <a:t>Nhiệm Vụ Đồ Án</a:t>
            </a:r>
          </a:p>
        </p:txBody>
      </p:sp>
      <p:sp>
        <p:nvSpPr>
          <p:cNvPr id="19" name="Rectangle 18"/>
          <p:cNvSpPr/>
          <p:nvPr/>
        </p:nvSpPr>
        <p:spPr>
          <a:xfrm>
            <a:off x="581025" y="485775"/>
            <a:ext cx="47625" cy="38859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914400" y="2827883"/>
            <a:ext cx="10696575" cy="228600"/>
          </a:xfrm>
          <a:prstGeom prst="rect">
            <a:avLst/>
          </a:prstGeom>
          <a:noFill/>
        </p:spPr>
        <p:txBody>
          <a:bodyPr wrap="square" lIns="0" rIns="0" tIns="0" bIns="0" anchor="t">
            <a:spAutoFit/>
          </a:bodyPr>
          <a:lstStyle/>
          <a:p>
            <a:pPr algn="l">
              <a:lnSpc>
                <a:spcPts val="1800"/>
              </a:lnSpc>
            </a:pPr>
            <a:r>
              <a:rPr b="1" sz="1200" i="0" u="none">
                <a:solidFill>
                  <a:srgbClr val="F8FAFC"/>
                </a:solidFill>
                <a:latin typeface="Inter"/>
              </a:rPr>
              <a:t>Đối tượng sử dụng:</a:t>
            </a:r>
            <a:r>
              <a:rPr b="0" sz="1200" i="0" u="none">
                <a:solidFill>
                  <a:srgbClr val="CBD5E1"/>
                </a:solidFill>
                <a:latin typeface="Inter"/>
              </a:rPr>
              <a:t> Khách hàng mua sắm trực tuyến (duyệt hàng, đặt mua) và Ban quản trị (chủ cửa hàng, nhân viên bán hàng).</a:t>
            </a:r>
          </a:p>
        </p:txBody>
      </p:sp>
      <p:sp>
        <p:nvSpPr>
          <p:cNvPr id="4" name="TextBox 3"/>
          <p:cNvSpPr txBox="1"/>
          <p:nvPr/>
        </p:nvSpPr>
        <p:spPr>
          <a:xfrm>
            <a:off x="914400" y="3227933"/>
            <a:ext cx="10696575" cy="457200"/>
          </a:xfrm>
          <a:prstGeom prst="rect">
            <a:avLst/>
          </a:prstGeom>
          <a:noFill/>
        </p:spPr>
        <p:txBody>
          <a:bodyPr wrap="square" lIns="0" rIns="0" tIns="0" bIns="0" anchor="t">
            <a:spAutoFit/>
          </a:bodyPr>
          <a:lstStyle/>
          <a:p>
            <a:pPr algn="l">
              <a:lnSpc>
                <a:spcPts val="1800"/>
              </a:lnSpc>
            </a:pPr>
            <a:r>
              <a:rPr b="1" sz="1200" i="0" u="none">
                <a:solidFill>
                  <a:srgbClr val="F8FAFC"/>
                </a:solidFill>
                <a:latin typeface="Inter"/>
              </a:rPr>
              <a:t>Danh mục sản phẩm:</a:t>
            </a:r>
            <a:r>
              <a:rPr b="0" sz="1200" i="0" u="none">
                <a:solidFill>
                  <a:srgbClr val="CBD5E1"/>
                </a:solidFill>
                <a:latin typeface="Inter"/>
              </a:rPr>
              <a:t> Đa dạng dòng giày dép như Giày Thể Thao (Sneaker), Giày Thời Trang Nam/Nữ, Giày Tây, Sandal với đa dạng các kích cỡ (Size 36 - 44).</a:t>
            </a:r>
          </a:p>
        </p:txBody>
      </p:sp>
      <p:sp>
        <p:nvSpPr>
          <p:cNvPr id="5" name="TextBox 4"/>
          <p:cNvSpPr txBox="1"/>
          <p:nvPr/>
        </p:nvSpPr>
        <p:spPr>
          <a:xfrm>
            <a:off x="914400" y="3856583"/>
            <a:ext cx="10696575" cy="228600"/>
          </a:xfrm>
          <a:prstGeom prst="rect">
            <a:avLst/>
          </a:prstGeom>
          <a:noFill/>
        </p:spPr>
        <p:txBody>
          <a:bodyPr wrap="square" lIns="0" rIns="0" tIns="0" bIns="0" anchor="t">
            <a:spAutoFit/>
          </a:bodyPr>
          <a:lstStyle/>
          <a:p>
            <a:pPr algn="l">
              <a:lnSpc>
                <a:spcPts val="1800"/>
              </a:lnSpc>
            </a:pPr>
            <a:r>
              <a:rPr b="1" sz="1200" i="0" u="none">
                <a:solidFill>
                  <a:srgbClr val="F8FAFC"/>
                </a:solidFill>
                <a:latin typeface="Inter"/>
              </a:rPr>
              <a:t>Chức năng nghiệp vụ:</a:t>
            </a:r>
            <a:r>
              <a:rPr b="0" sz="1200" i="0" u="none">
                <a:solidFill>
                  <a:srgbClr val="CBD5E1"/>
                </a:solidFill>
                <a:latin typeface="Inter"/>
              </a:rPr>
              <a:t> Tìm kiếm, lọc sản phẩm, quản lý giỏ hàng, thực hiện đặt hàng, theo dõi đơn hàng và thống kê doanh thu.</a:t>
            </a:r>
          </a:p>
        </p:txBody>
      </p:sp>
      <p:sp>
        <p:nvSpPr>
          <p:cNvPr id="6" name="TextBox 5"/>
          <p:cNvSpPr txBox="1"/>
          <p:nvPr/>
        </p:nvSpPr>
        <p:spPr>
          <a:xfrm>
            <a:off x="914400" y="4256633"/>
            <a:ext cx="10696575" cy="228600"/>
          </a:xfrm>
          <a:prstGeom prst="rect">
            <a:avLst/>
          </a:prstGeom>
          <a:noFill/>
        </p:spPr>
        <p:txBody>
          <a:bodyPr wrap="square" lIns="0" rIns="0" tIns="0" bIns="0" anchor="t">
            <a:spAutoFit/>
          </a:bodyPr>
          <a:lstStyle/>
          <a:p>
            <a:pPr algn="l">
              <a:lnSpc>
                <a:spcPts val="1800"/>
              </a:lnSpc>
            </a:pPr>
            <a:r>
              <a:rPr b="1" sz="1200" i="0" u="none">
                <a:solidFill>
                  <a:srgbClr val="F8FAFC"/>
                </a:solidFill>
                <a:latin typeface="Inter"/>
              </a:rPr>
              <a:t>Môi trường vận hành:</a:t>
            </a:r>
            <a:r>
              <a:rPr b="0" sz="1200" i="0" u="none">
                <a:solidFill>
                  <a:srgbClr val="CBD5E1"/>
                </a:solidFill>
                <a:latin typeface="Inter"/>
              </a:rPr>
              <a:t> Lập trình trên Visual Studio, cơ sở dữ liệu Microsoft SQL Server và triển khai trên Web Server IIS.</a:t>
            </a:r>
          </a:p>
        </p:txBody>
      </p:sp>
      <p:pic>
        <p:nvPicPr>
          <p:cNvPr id="7" name="Picture 6" descr="image.png"/>
          <p:cNvPicPr>
            <a:picLocks noChangeAspect="1"/>
          </p:cNvPicPr>
          <p:nvPr/>
        </p:nvPicPr>
        <p:blipFill>
          <a:blip r:embed="rId3"/>
          <a:stretch>
            <a:fillRect/>
          </a:stretch>
        </p:blipFill>
        <p:spPr>
          <a:xfrm>
            <a:off x="581025" y="2851695"/>
            <a:ext cx="238125" cy="200025"/>
          </a:xfrm>
          <a:prstGeom prst="rect">
            <a:avLst/>
          </a:prstGeom>
        </p:spPr>
      </p:pic>
      <p:pic>
        <p:nvPicPr>
          <p:cNvPr id="8" name="Picture 7" descr="image.png"/>
          <p:cNvPicPr>
            <a:picLocks noChangeAspect="1"/>
          </p:cNvPicPr>
          <p:nvPr/>
        </p:nvPicPr>
        <p:blipFill>
          <a:blip r:embed="rId4"/>
          <a:stretch>
            <a:fillRect/>
          </a:stretch>
        </p:blipFill>
        <p:spPr>
          <a:xfrm>
            <a:off x="581025" y="3251745"/>
            <a:ext cx="238125" cy="200025"/>
          </a:xfrm>
          <a:prstGeom prst="rect">
            <a:avLst/>
          </a:prstGeom>
        </p:spPr>
      </p:pic>
      <p:pic>
        <p:nvPicPr>
          <p:cNvPr id="9" name="Picture 8" descr="image.png"/>
          <p:cNvPicPr>
            <a:picLocks noChangeAspect="1"/>
          </p:cNvPicPr>
          <p:nvPr/>
        </p:nvPicPr>
        <p:blipFill>
          <a:blip r:embed="rId5"/>
          <a:stretch>
            <a:fillRect/>
          </a:stretch>
        </p:blipFill>
        <p:spPr>
          <a:xfrm>
            <a:off x="581025" y="3880395"/>
            <a:ext cx="238125" cy="200025"/>
          </a:xfrm>
          <a:prstGeom prst="rect">
            <a:avLst/>
          </a:prstGeom>
        </p:spPr>
      </p:pic>
      <p:pic>
        <p:nvPicPr>
          <p:cNvPr id="10" name="Picture 9" descr="image.png"/>
          <p:cNvPicPr>
            <a:picLocks noChangeAspect="1"/>
          </p:cNvPicPr>
          <p:nvPr/>
        </p:nvPicPr>
        <p:blipFill>
          <a:blip r:embed="rId6"/>
          <a:stretch>
            <a:fillRect/>
          </a:stretch>
        </p:blipFill>
        <p:spPr>
          <a:xfrm>
            <a:off x="581025" y="4280445"/>
            <a:ext cx="190500" cy="200025"/>
          </a:xfrm>
          <a:prstGeom prst="rect">
            <a:avLst/>
          </a:prstGeom>
        </p:spPr>
      </p:pic>
      <p:sp>
        <p:nvSpPr>
          <p:cNvPr id="11" name="TextBox 10"/>
          <p:cNvSpPr txBox="1"/>
          <p:nvPr/>
        </p:nvSpPr>
        <p:spPr>
          <a:xfrm>
            <a:off x="723900" y="485775"/>
            <a:ext cx="11431428" cy="388590"/>
          </a:xfrm>
          <a:prstGeom prst="rect">
            <a:avLst/>
          </a:prstGeom>
          <a:noFill/>
        </p:spPr>
        <p:txBody>
          <a:bodyPr wrap="square" lIns="0" rIns="0" tIns="0" bIns="0" anchor="t">
            <a:spAutoFit/>
          </a:bodyPr>
          <a:lstStyle/>
          <a:p>
            <a:pPr algn="l">
              <a:lnSpc>
                <a:spcPts val="3060"/>
              </a:lnSpc>
            </a:pPr>
            <a:r>
              <a:rPr b="0" sz="2550" i="0" u="none">
                <a:solidFill>
                  <a:srgbClr val="F8FAFC"/>
                </a:solidFill>
                <a:latin typeface="Poppins SemiBold"/>
              </a:rPr>
              <a:t>Phạm Vi </a:t>
            </a:r>
            <a:r>
              <a:rPr b="0" sz="2550" i="0" u="none">
                <a:solidFill>
                  <a:srgbClr val="38BDF8"/>
                </a:solidFill>
                <a:latin typeface="Poppins SemiBold"/>
              </a:rPr>
              <a:t>&amp; Đối Tượng Đồ Án</a:t>
            </a:r>
          </a:p>
        </p:txBody>
      </p:sp>
      <p:sp>
        <p:nvSpPr>
          <p:cNvPr id="12" name="Rectangle 11"/>
          <p:cNvSpPr/>
          <p:nvPr/>
        </p:nvSpPr>
        <p:spPr>
          <a:xfrm>
            <a:off x="581025" y="485775"/>
            <a:ext cx="47625" cy="38859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2328654" y="2857500"/>
            <a:ext cx="7534691" cy="742950"/>
          </a:xfrm>
          <a:prstGeom prst="rect">
            <a:avLst/>
          </a:prstGeom>
          <a:noFill/>
        </p:spPr>
        <p:txBody>
          <a:bodyPr wrap="square" lIns="0" rIns="0" tIns="0" bIns="0" anchor="t">
            <a:spAutoFit/>
          </a:bodyPr>
          <a:lstStyle/>
          <a:p>
            <a:pPr algn="ctr"/>
            <a:r>
              <a:rPr b="0" sz="3900" i="0" u="none">
                <a:solidFill>
                  <a:srgbClr val="FFFFFF"/>
                </a:solidFill>
                <a:latin typeface="Poppins SemiBold"/>
              </a:rPr>
              <a:t>02. KIẾN TRÚC &amp; CÔNG NGHỆ</a:t>
            </a:r>
          </a:p>
        </p:txBody>
      </p:sp>
      <p:sp>
        <p:nvSpPr>
          <p:cNvPr id="4" name="TextBox 3"/>
          <p:cNvSpPr txBox="1"/>
          <p:nvPr/>
        </p:nvSpPr>
        <p:spPr>
          <a:xfrm>
            <a:off x="2524125" y="3743325"/>
            <a:ext cx="7143750" cy="571500"/>
          </a:xfrm>
          <a:prstGeom prst="rect">
            <a:avLst/>
          </a:prstGeom>
          <a:noFill/>
        </p:spPr>
        <p:txBody>
          <a:bodyPr wrap="square" lIns="0" rIns="0" tIns="0" bIns="0" anchor="t">
            <a:spAutoFit/>
          </a:bodyPr>
          <a:lstStyle/>
          <a:p>
            <a:pPr algn="ctr">
              <a:lnSpc>
                <a:spcPts val="2250"/>
              </a:lnSpc>
            </a:pPr>
            <a:r>
              <a:rPr b="0" sz="1500" i="0" u="none">
                <a:solidFill>
                  <a:srgbClr val="94A3B8"/>
                </a:solidFill>
                <a:latin typeface="Inter"/>
              </a:rPr>
              <a:t>Lựa chọn công nghệ phát triển ASP.NET, thiết kế kiến trúc hệ thống và cơ sở dữ liệu SQL Server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81025" y="2442120"/>
            <a:ext cx="3517850" cy="2600325"/>
          </a:xfrm>
          <a:prstGeom prst="rect">
            <a:avLst/>
          </a:prstGeom>
        </p:spPr>
      </p:pic>
      <p:pic>
        <p:nvPicPr>
          <p:cNvPr id="4" name="Picture 3" descr="image.png"/>
          <p:cNvPicPr>
            <a:picLocks noChangeAspect="1"/>
          </p:cNvPicPr>
          <p:nvPr/>
        </p:nvPicPr>
        <p:blipFill>
          <a:blip r:embed="rId4"/>
          <a:stretch>
            <a:fillRect/>
          </a:stretch>
        </p:blipFill>
        <p:spPr>
          <a:xfrm>
            <a:off x="4337000" y="2442120"/>
            <a:ext cx="3517850" cy="2600325"/>
          </a:xfrm>
          <a:prstGeom prst="rect">
            <a:avLst/>
          </a:prstGeom>
        </p:spPr>
      </p:pic>
      <p:pic>
        <p:nvPicPr>
          <p:cNvPr id="5" name="Picture 4" descr="image.png"/>
          <p:cNvPicPr>
            <a:picLocks noChangeAspect="1"/>
          </p:cNvPicPr>
          <p:nvPr/>
        </p:nvPicPr>
        <p:blipFill>
          <a:blip r:embed="rId5"/>
          <a:stretch>
            <a:fillRect/>
          </a:stretch>
        </p:blipFill>
        <p:spPr>
          <a:xfrm>
            <a:off x="8092975" y="2442120"/>
            <a:ext cx="3517850" cy="2600325"/>
          </a:xfrm>
          <a:prstGeom prst="rect">
            <a:avLst/>
          </a:prstGeom>
        </p:spPr>
      </p:pic>
      <p:pic>
        <p:nvPicPr>
          <p:cNvPr id="6" name="Picture 5" descr="image.png"/>
          <p:cNvPicPr>
            <a:picLocks noChangeAspect="1"/>
          </p:cNvPicPr>
          <p:nvPr/>
        </p:nvPicPr>
        <p:blipFill>
          <a:blip r:embed="rId6"/>
          <a:stretch>
            <a:fillRect/>
          </a:stretch>
        </p:blipFill>
        <p:spPr>
          <a:xfrm>
            <a:off x="819150" y="2718345"/>
            <a:ext cx="619125" cy="619125"/>
          </a:xfrm>
          <a:prstGeom prst="rect">
            <a:avLst/>
          </a:prstGeom>
        </p:spPr>
      </p:pic>
      <p:sp>
        <p:nvSpPr>
          <p:cNvPr id="7" name="TextBox 6"/>
          <p:cNvSpPr txBox="1"/>
          <p:nvPr/>
        </p:nvSpPr>
        <p:spPr>
          <a:xfrm>
            <a:off x="819150" y="3508920"/>
            <a:ext cx="3193680" cy="285750"/>
          </a:xfrm>
          <a:prstGeom prst="rect">
            <a:avLst/>
          </a:prstGeom>
          <a:noFill/>
        </p:spPr>
        <p:txBody>
          <a:bodyPr wrap="square" lIns="0" rIns="0" tIns="0" bIns="0" anchor="t">
            <a:spAutoFit/>
          </a:bodyPr>
          <a:lstStyle/>
          <a:p>
            <a:pPr algn="l"/>
            <a:r>
              <a:rPr b="0" sz="1500" i="0" u="none">
                <a:solidFill>
                  <a:srgbClr val="F8FAFC"/>
                </a:solidFill>
                <a:latin typeface="Poppins SemiBold"/>
              </a:rPr>
              <a:t>Backend</a:t>
            </a:r>
          </a:p>
        </p:txBody>
      </p:sp>
      <p:sp>
        <p:nvSpPr>
          <p:cNvPr id="8" name="TextBox 7"/>
          <p:cNvSpPr txBox="1"/>
          <p:nvPr/>
        </p:nvSpPr>
        <p:spPr>
          <a:xfrm>
            <a:off x="819150" y="3908970"/>
            <a:ext cx="3041600" cy="642937"/>
          </a:xfrm>
          <a:prstGeom prst="rect">
            <a:avLst/>
          </a:prstGeom>
          <a:noFill/>
        </p:spPr>
        <p:txBody>
          <a:bodyPr wrap="square" lIns="0" rIns="0" tIns="0" bIns="0" anchor="t">
            <a:spAutoFit/>
          </a:bodyPr>
          <a:lstStyle/>
          <a:p>
            <a:pPr algn="l">
              <a:lnSpc>
                <a:spcPts val="1687"/>
              </a:lnSpc>
            </a:pPr>
            <a:r>
              <a:rPr b="1" sz="1125" i="0" u="none">
                <a:solidFill>
                  <a:srgbClr val="94A3B8"/>
                </a:solidFill>
                <a:latin typeface="Inter"/>
              </a:rPr>
              <a:t>ASP.NET (C#)</a:t>
            </a:r>
            <a:r>
              <a:rPr b="0" sz="1125" i="0" u="none">
                <a:solidFill>
                  <a:srgbClr val="94A3B8"/>
                </a:solidFill>
                <a:latin typeface="Inter"/>
              </a:rPr>
              <a:t> thiết kế theo mô hình MVC / Web Application. Xử lý logic hệ thống chặt chẽ, tối ưu hiệu năng và tính bảo mật cao.</a:t>
            </a:r>
          </a:p>
        </p:txBody>
      </p:sp>
      <p:pic>
        <p:nvPicPr>
          <p:cNvPr id="9" name="Picture 8" descr="image.png"/>
          <p:cNvPicPr>
            <a:picLocks noChangeAspect="1"/>
          </p:cNvPicPr>
          <p:nvPr/>
        </p:nvPicPr>
        <p:blipFill>
          <a:blip r:embed="rId7"/>
          <a:stretch>
            <a:fillRect/>
          </a:stretch>
        </p:blipFill>
        <p:spPr>
          <a:xfrm>
            <a:off x="4575125" y="2718345"/>
            <a:ext cx="619125" cy="619125"/>
          </a:xfrm>
          <a:prstGeom prst="rect">
            <a:avLst/>
          </a:prstGeom>
        </p:spPr>
      </p:pic>
      <p:sp>
        <p:nvSpPr>
          <p:cNvPr id="10" name="TextBox 9"/>
          <p:cNvSpPr txBox="1"/>
          <p:nvPr/>
        </p:nvSpPr>
        <p:spPr>
          <a:xfrm>
            <a:off x="4575125" y="3508920"/>
            <a:ext cx="3193680" cy="285750"/>
          </a:xfrm>
          <a:prstGeom prst="rect">
            <a:avLst/>
          </a:prstGeom>
          <a:noFill/>
        </p:spPr>
        <p:txBody>
          <a:bodyPr wrap="square" lIns="0" rIns="0" tIns="0" bIns="0" anchor="t">
            <a:spAutoFit/>
          </a:bodyPr>
          <a:lstStyle/>
          <a:p>
            <a:pPr algn="l"/>
            <a:r>
              <a:rPr b="0" sz="1500" i="0" u="none">
                <a:solidFill>
                  <a:srgbClr val="F8FAFC"/>
                </a:solidFill>
                <a:latin typeface="Poppins SemiBold"/>
              </a:rPr>
              <a:t>Frontend</a:t>
            </a:r>
          </a:p>
        </p:txBody>
      </p:sp>
      <p:sp>
        <p:nvSpPr>
          <p:cNvPr id="11" name="TextBox 10"/>
          <p:cNvSpPr txBox="1"/>
          <p:nvPr/>
        </p:nvSpPr>
        <p:spPr>
          <a:xfrm>
            <a:off x="4575125" y="3908970"/>
            <a:ext cx="3041600" cy="857250"/>
          </a:xfrm>
          <a:prstGeom prst="rect">
            <a:avLst/>
          </a:prstGeom>
          <a:noFill/>
        </p:spPr>
        <p:txBody>
          <a:bodyPr wrap="square" lIns="0" rIns="0" tIns="0" bIns="0" anchor="t">
            <a:spAutoFit/>
          </a:bodyPr>
          <a:lstStyle/>
          <a:p>
            <a:pPr algn="l">
              <a:lnSpc>
                <a:spcPts val="1687"/>
              </a:lnSpc>
            </a:pPr>
            <a:r>
              <a:rPr b="1" sz="1125" i="0" u="none">
                <a:solidFill>
                  <a:srgbClr val="94A3B8"/>
                </a:solidFill>
                <a:latin typeface="Inter"/>
              </a:rPr>
              <a:t>HTML5, CSS3, JavaScript, Bootstrap</a:t>
            </a:r>
            <a:r>
              <a:rPr b="0" sz="1125" i="0" u="none">
                <a:solidFill>
                  <a:srgbClr val="94A3B8"/>
                </a:solidFill>
                <a:latin typeface="Inter"/>
              </a:rPr>
              <a:t>. Xây dựng giao diện responsive đẹp mắt, tương thích linh hoạt trên màn hình Desktop &amp; Mobile.</a:t>
            </a:r>
          </a:p>
        </p:txBody>
      </p:sp>
      <p:pic>
        <p:nvPicPr>
          <p:cNvPr id="12" name="Picture 11" descr="image.png"/>
          <p:cNvPicPr>
            <a:picLocks noChangeAspect="1"/>
          </p:cNvPicPr>
          <p:nvPr/>
        </p:nvPicPr>
        <p:blipFill>
          <a:blip r:embed="rId8"/>
          <a:stretch>
            <a:fillRect/>
          </a:stretch>
        </p:blipFill>
        <p:spPr>
          <a:xfrm>
            <a:off x="8331100" y="2718345"/>
            <a:ext cx="619125" cy="619125"/>
          </a:xfrm>
          <a:prstGeom prst="rect">
            <a:avLst/>
          </a:prstGeom>
        </p:spPr>
      </p:pic>
      <p:sp>
        <p:nvSpPr>
          <p:cNvPr id="13" name="TextBox 12"/>
          <p:cNvSpPr txBox="1"/>
          <p:nvPr/>
        </p:nvSpPr>
        <p:spPr>
          <a:xfrm>
            <a:off x="8331100" y="3508920"/>
            <a:ext cx="3193680" cy="285750"/>
          </a:xfrm>
          <a:prstGeom prst="rect">
            <a:avLst/>
          </a:prstGeom>
          <a:noFill/>
        </p:spPr>
        <p:txBody>
          <a:bodyPr wrap="square" lIns="0" rIns="0" tIns="0" bIns="0" anchor="t">
            <a:spAutoFit/>
          </a:bodyPr>
          <a:lstStyle/>
          <a:p>
            <a:pPr algn="l"/>
            <a:r>
              <a:rPr b="0" sz="1500" i="0" u="none">
                <a:solidFill>
                  <a:srgbClr val="F8FAFC"/>
                </a:solidFill>
                <a:latin typeface="Poppins SemiBold"/>
              </a:rPr>
              <a:t>Database &amp; Tools</a:t>
            </a:r>
          </a:p>
        </p:txBody>
      </p:sp>
      <p:sp>
        <p:nvSpPr>
          <p:cNvPr id="14" name="TextBox 13"/>
          <p:cNvSpPr txBox="1"/>
          <p:nvPr/>
        </p:nvSpPr>
        <p:spPr>
          <a:xfrm>
            <a:off x="8331100" y="3908970"/>
            <a:ext cx="3041600" cy="642937"/>
          </a:xfrm>
          <a:prstGeom prst="rect">
            <a:avLst/>
          </a:prstGeom>
          <a:noFill/>
        </p:spPr>
        <p:txBody>
          <a:bodyPr wrap="square" lIns="0" rIns="0" tIns="0" bIns="0" anchor="t">
            <a:spAutoFit/>
          </a:bodyPr>
          <a:lstStyle/>
          <a:p>
            <a:pPr algn="l">
              <a:lnSpc>
                <a:spcPts val="1687"/>
              </a:lnSpc>
            </a:pPr>
            <a:r>
              <a:rPr b="1" sz="1125" i="0" u="none">
                <a:solidFill>
                  <a:srgbClr val="94A3B8"/>
                </a:solidFill>
                <a:latin typeface="Inter"/>
              </a:rPr>
              <a:t>Microsoft SQL Server</a:t>
            </a:r>
            <a:r>
              <a:rPr b="0" sz="1125" i="0" u="none">
                <a:solidFill>
                  <a:srgbClr val="94A3B8"/>
                </a:solidFill>
                <a:latin typeface="Inter"/>
              </a:rPr>
              <a:t> lưu trữ cơ sở dữ liệu quan hệ. Sử dụng </a:t>
            </a:r>
            <a:r>
              <a:rPr b="1" sz="1125" i="0" u="none">
                <a:solidFill>
                  <a:srgbClr val="94A3B8"/>
                </a:solidFill>
                <a:latin typeface="Inter"/>
              </a:rPr>
              <a:t>Visual Studio</a:t>
            </a:r>
            <a:r>
              <a:rPr b="0" sz="1125" i="0" u="none">
                <a:solidFill>
                  <a:srgbClr val="94A3B8"/>
                </a:solidFill>
                <a:latin typeface="Inter"/>
              </a:rPr>
              <a:t> &amp; </a:t>
            </a:r>
            <a:r>
              <a:rPr b="1" sz="1125" i="0" u="none">
                <a:solidFill>
                  <a:srgbClr val="94A3B8"/>
                </a:solidFill>
                <a:latin typeface="Inter"/>
              </a:rPr>
              <a:t>SSMS</a:t>
            </a:r>
            <a:r>
              <a:rPr b="0" sz="1125" i="0" u="none">
                <a:solidFill>
                  <a:srgbClr val="94A3B8"/>
                </a:solidFill>
                <a:latin typeface="Inter"/>
              </a:rPr>
              <a:t> làm môi trường phát triển.</a:t>
            </a:r>
          </a:p>
        </p:txBody>
      </p:sp>
      <p:pic>
        <p:nvPicPr>
          <p:cNvPr id="15" name="Picture 14" descr="image.png"/>
          <p:cNvPicPr>
            <a:picLocks noChangeAspect="1"/>
          </p:cNvPicPr>
          <p:nvPr/>
        </p:nvPicPr>
        <p:blipFill>
          <a:blip r:embed="rId9"/>
          <a:stretch>
            <a:fillRect/>
          </a:stretch>
        </p:blipFill>
        <p:spPr>
          <a:xfrm>
            <a:off x="976312" y="2856458"/>
            <a:ext cx="304800" cy="342900"/>
          </a:xfrm>
          <a:prstGeom prst="rect">
            <a:avLst/>
          </a:prstGeom>
        </p:spPr>
      </p:pic>
      <p:pic>
        <p:nvPicPr>
          <p:cNvPr id="16" name="Picture 15" descr="image.png"/>
          <p:cNvPicPr>
            <a:picLocks noChangeAspect="1"/>
          </p:cNvPicPr>
          <p:nvPr/>
        </p:nvPicPr>
        <p:blipFill>
          <a:blip r:embed="rId10"/>
          <a:stretch>
            <a:fillRect/>
          </a:stretch>
        </p:blipFill>
        <p:spPr>
          <a:xfrm>
            <a:off x="4670375" y="2856458"/>
            <a:ext cx="428625" cy="342900"/>
          </a:xfrm>
          <a:prstGeom prst="rect">
            <a:avLst/>
          </a:prstGeom>
        </p:spPr>
      </p:pic>
      <p:pic>
        <p:nvPicPr>
          <p:cNvPr id="17" name="Picture 16" descr="image.png"/>
          <p:cNvPicPr>
            <a:picLocks noChangeAspect="1"/>
          </p:cNvPicPr>
          <p:nvPr/>
        </p:nvPicPr>
        <p:blipFill>
          <a:blip r:embed="rId11"/>
          <a:stretch>
            <a:fillRect/>
          </a:stretch>
        </p:blipFill>
        <p:spPr>
          <a:xfrm>
            <a:off x="8488263" y="2856458"/>
            <a:ext cx="304800" cy="342900"/>
          </a:xfrm>
          <a:prstGeom prst="rect">
            <a:avLst/>
          </a:prstGeom>
        </p:spPr>
      </p:pic>
      <p:sp>
        <p:nvSpPr>
          <p:cNvPr id="18" name="TextBox 17"/>
          <p:cNvSpPr txBox="1"/>
          <p:nvPr/>
        </p:nvSpPr>
        <p:spPr>
          <a:xfrm>
            <a:off x="723900" y="485775"/>
            <a:ext cx="11431428" cy="388590"/>
          </a:xfrm>
          <a:prstGeom prst="rect">
            <a:avLst/>
          </a:prstGeom>
          <a:noFill/>
        </p:spPr>
        <p:txBody>
          <a:bodyPr wrap="square" lIns="0" rIns="0" tIns="0" bIns="0" anchor="t">
            <a:spAutoFit/>
          </a:bodyPr>
          <a:lstStyle/>
          <a:p>
            <a:pPr algn="l">
              <a:lnSpc>
                <a:spcPts val="3060"/>
              </a:lnSpc>
            </a:pPr>
            <a:r>
              <a:rPr b="0" sz="2550" i="0" u="none">
                <a:solidFill>
                  <a:srgbClr val="F8FAFC"/>
                </a:solidFill>
                <a:latin typeface="Poppins SemiBold"/>
              </a:rPr>
              <a:t>Công Nghệ </a:t>
            </a:r>
            <a:r>
              <a:rPr b="0" sz="2550" i="0" u="none">
                <a:solidFill>
                  <a:srgbClr val="38BDF8"/>
                </a:solidFill>
                <a:latin typeface="Poppins SemiBold"/>
              </a:rPr>
              <a:t>Phát Triển (Tech Stack)</a:t>
            </a:r>
          </a:p>
        </p:txBody>
      </p:sp>
      <p:sp>
        <p:nvSpPr>
          <p:cNvPr id="19" name="Rectangle 18"/>
          <p:cNvSpPr/>
          <p:nvPr/>
        </p:nvSpPr>
        <p:spPr>
          <a:xfrm>
            <a:off x="581025" y="485775"/>
            <a:ext cx="47625" cy="38859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81025" y="2375445"/>
            <a:ext cx="5324475" cy="2733675"/>
          </a:xfrm>
          <a:prstGeom prst="rect">
            <a:avLst/>
          </a:prstGeom>
        </p:spPr>
      </p:pic>
      <p:pic>
        <p:nvPicPr>
          <p:cNvPr id="4" name="Picture 3" descr="image.png"/>
          <p:cNvPicPr>
            <a:picLocks noChangeAspect="1"/>
          </p:cNvPicPr>
          <p:nvPr/>
        </p:nvPicPr>
        <p:blipFill>
          <a:blip r:embed="rId4"/>
          <a:stretch>
            <a:fillRect/>
          </a:stretch>
        </p:blipFill>
        <p:spPr>
          <a:xfrm>
            <a:off x="6286500" y="2375445"/>
            <a:ext cx="5324475" cy="2733675"/>
          </a:xfrm>
          <a:prstGeom prst="rect">
            <a:avLst/>
          </a:prstGeom>
        </p:spPr>
      </p:pic>
      <p:sp>
        <p:nvSpPr>
          <p:cNvPr id="5" name="TextBox 4"/>
          <p:cNvSpPr txBox="1"/>
          <p:nvPr/>
        </p:nvSpPr>
        <p:spPr>
          <a:xfrm>
            <a:off x="876300" y="2670720"/>
            <a:ext cx="4970621" cy="314325"/>
          </a:xfrm>
          <a:prstGeom prst="rect">
            <a:avLst/>
          </a:prstGeom>
          <a:noFill/>
        </p:spPr>
        <p:txBody>
          <a:bodyPr wrap="square" lIns="333375" rIns="0" tIns="0" bIns="0" anchor="t">
            <a:spAutoFit/>
          </a:bodyPr>
          <a:lstStyle/>
          <a:p>
            <a:pPr algn="l"/>
            <a:r>
              <a:rPr b="0" sz="1650" i="0" u="none">
                <a:solidFill>
                  <a:srgbClr val="38BDF8"/>
                </a:solidFill>
                <a:latin typeface="Poppins SemiBold"/>
              </a:rPr>
              <a:t>Mô Hình Phân Tầng (MVC)</a:t>
            </a:r>
          </a:p>
        </p:txBody>
      </p:sp>
      <p:sp>
        <p:nvSpPr>
          <p:cNvPr id="6" name="TextBox 5"/>
          <p:cNvSpPr txBox="1"/>
          <p:nvPr/>
        </p:nvSpPr>
        <p:spPr>
          <a:xfrm>
            <a:off x="876300" y="3099345"/>
            <a:ext cx="4733925" cy="457200"/>
          </a:xfrm>
          <a:prstGeom prst="rect">
            <a:avLst/>
          </a:prstGeom>
          <a:noFill/>
        </p:spPr>
        <p:txBody>
          <a:bodyPr wrap="square" lIns="0" rIns="0" tIns="0" bIns="0" anchor="t">
            <a:spAutoFit/>
          </a:bodyPr>
          <a:lstStyle/>
          <a:p>
            <a:pPr algn="l">
              <a:lnSpc>
                <a:spcPts val="1800"/>
              </a:lnSpc>
            </a:pPr>
            <a:r>
              <a:rPr b="0" sz="1200" i="0" u="none">
                <a:solidFill>
                  <a:srgbClr val="94A3B8"/>
                </a:solidFill>
                <a:latin typeface="Inter"/>
              </a:rPr>
              <a:t>• </a:t>
            </a:r>
            <a:r>
              <a:rPr b="1" sz="1200" i="0" u="none">
                <a:solidFill>
                  <a:srgbClr val="94A3B8"/>
                </a:solidFill>
                <a:latin typeface="Inter"/>
              </a:rPr>
              <a:t>Model:</a:t>
            </a:r>
            <a:r>
              <a:rPr b="0" sz="1200" i="0" u="none">
                <a:solidFill>
                  <a:srgbClr val="94A3B8"/>
                </a:solidFill>
                <a:latin typeface="Inter"/>
              </a:rPr>
              <a:t> Đại diện cho các đối tượng dữ liệu (Giày, Đơn hàng, Người dùng) ánh xạ trực tiếp với SQL Server.</a:t>
            </a:r>
          </a:p>
        </p:txBody>
      </p:sp>
      <p:sp>
        <p:nvSpPr>
          <p:cNvPr id="7" name="TextBox 6"/>
          <p:cNvSpPr txBox="1"/>
          <p:nvPr/>
        </p:nvSpPr>
        <p:spPr>
          <a:xfrm>
            <a:off x="876300" y="3670845"/>
            <a:ext cx="4733925" cy="457200"/>
          </a:xfrm>
          <a:prstGeom prst="rect">
            <a:avLst/>
          </a:prstGeom>
          <a:noFill/>
        </p:spPr>
        <p:txBody>
          <a:bodyPr wrap="square" lIns="0" rIns="0" tIns="0" bIns="0" anchor="t">
            <a:spAutoFit/>
          </a:bodyPr>
          <a:lstStyle/>
          <a:p>
            <a:pPr algn="l">
              <a:lnSpc>
                <a:spcPts val="1800"/>
              </a:lnSpc>
            </a:pPr>
            <a:r>
              <a:rPr b="0" sz="1200" i="0" u="none">
                <a:solidFill>
                  <a:srgbClr val="94A3B8"/>
                </a:solidFill>
                <a:latin typeface="Inter"/>
              </a:rPr>
              <a:t>• </a:t>
            </a:r>
            <a:r>
              <a:rPr b="1" sz="1200" i="0" u="none">
                <a:solidFill>
                  <a:srgbClr val="94A3B8"/>
                </a:solidFill>
                <a:latin typeface="Inter"/>
              </a:rPr>
              <a:t>View:</a:t>
            </a:r>
            <a:r>
              <a:rPr b="0" sz="1200" i="0" u="none">
                <a:solidFill>
                  <a:srgbClr val="94A3B8"/>
                </a:solidFill>
                <a:latin typeface="Inter"/>
              </a:rPr>
              <a:t> Giao diện hiển thị sản phẩm, giỏ hàng chuẩn Razor / HTML5 linh hoạt.</a:t>
            </a:r>
          </a:p>
        </p:txBody>
      </p:sp>
      <p:sp>
        <p:nvSpPr>
          <p:cNvPr id="8" name="TextBox 7"/>
          <p:cNvSpPr txBox="1"/>
          <p:nvPr/>
        </p:nvSpPr>
        <p:spPr>
          <a:xfrm>
            <a:off x="876300" y="4242345"/>
            <a:ext cx="4733925" cy="457200"/>
          </a:xfrm>
          <a:prstGeom prst="rect">
            <a:avLst/>
          </a:prstGeom>
          <a:noFill/>
        </p:spPr>
        <p:txBody>
          <a:bodyPr wrap="square" lIns="0" rIns="0" tIns="0" bIns="0" anchor="t">
            <a:spAutoFit/>
          </a:bodyPr>
          <a:lstStyle/>
          <a:p>
            <a:pPr algn="l">
              <a:lnSpc>
                <a:spcPts val="1800"/>
              </a:lnSpc>
            </a:pPr>
            <a:r>
              <a:rPr b="0" sz="1200" i="0" u="none">
                <a:solidFill>
                  <a:srgbClr val="94A3B8"/>
                </a:solidFill>
                <a:latin typeface="Inter"/>
              </a:rPr>
              <a:t>• </a:t>
            </a:r>
            <a:r>
              <a:rPr b="1" sz="1200" i="0" u="none">
                <a:solidFill>
                  <a:srgbClr val="94A3B8"/>
                </a:solidFill>
                <a:latin typeface="Inter"/>
              </a:rPr>
              <a:t>Controller:</a:t>
            </a:r>
            <a:r>
              <a:rPr b="0" sz="1200" i="0" u="none">
                <a:solidFill>
                  <a:srgbClr val="94A3B8"/>
                </a:solidFill>
                <a:latin typeface="Inter"/>
              </a:rPr>
              <a:t> Xử lý yêu cầu điều hướng, kết nối dữ liệu và thực thi nghiệp vụ.</a:t>
            </a:r>
          </a:p>
        </p:txBody>
      </p:sp>
      <p:sp>
        <p:nvSpPr>
          <p:cNvPr id="9" name="TextBox 8"/>
          <p:cNvSpPr txBox="1"/>
          <p:nvPr/>
        </p:nvSpPr>
        <p:spPr>
          <a:xfrm>
            <a:off x="6581775" y="2670720"/>
            <a:ext cx="4970621" cy="314325"/>
          </a:xfrm>
          <a:prstGeom prst="rect">
            <a:avLst/>
          </a:prstGeom>
          <a:noFill/>
        </p:spPr>
        <p:txBody>
          <a:bodyPr wrap="square" lIns="304800" rIns="0" tIns="0" bIns="0" anchor="t">
            <a:spAutoFit/>
          </a:bodyPr>
          <a:lstStyle/>
          <a:p>
            <a:pPr algn="l"/>
            <a:r>
              <a:rPr b="0" sz="1650" i="0" u="none">
                <a:solidFill>
                  <a:srgbClr val="38BDF8"/>
                </a:solidFill>
                <a:latin typeface="Poppins SemiBold"/>
              </a:rPr>
              <a:t>Cơ Chế Quản Lý &amp; Bảo Mật</a:t>
            </a:r>
          </a:p>
        </p:txBody>
      </p:sp>
      <p:sp>
        <p:nvSpPr>
          <p:cNvPr id="10" name="TextBox 9"/>
          <p:cNvSpPr txBox="1"/>
          <p:nvPr/>
        </p:nvSpPr>
        <p:spPr>
          <a:xfrm>
            <a:off x="6581775" y="3099345"/>
            <a:ext cx="4733925" cy="457200"/>
          </a:xfrm>
          <a:prstGeom prst="rect">
            <a:avLst/>
          </a:prstGeom>
          <a:noFill/>
        </p:spPr>
        <p:txBody>
          <a:bodyPr wrap="square" lIns="0" rIns="0" tIns="0" bIns="0" anchor="t">
            <a:spAutoFit/>
          </a:bodyPr>
          <a:lstStyle/>
          <a:p>
            <a:pPr algn="l">
              <a:lnSpc>
                <a:spcPts val="1800"/>
              </a:lnSpc>
            </a:pPr>
            <a:r>
              <a:rPr b="0" sz="1200" i="0" u="none">
                <a:solidFill>
                  <a:srgbClr val="94A3B8"/>
                </a:solidFill>
                <a:latin typeface="Inter"/>
              </a:rPr>
              <a:t>• </a:t>
            </a:r>
            <a:r>
              <a:rPr b="1" sz="1200" i="0" u="none">
                <a:solidFill>
                  <a:srgbClr val="94A3B8"/>
                </a:solidFill>
                <a:latin typeface="Inter"/>
              </a:rPr>
              <a:t>Session &amp; Cookie:</a:t>
            </a:r>
            <a:r>
              <a:rPr b="0" sz="1200" i="0" u="none">
                <a:solidFill>
                  <a:srgbClr val="94A3B8"/>
                </a:solidFill>
                <a:latin typeface="Inter"/>
              </a:rPr>
              <a:t> Lưu trữ trạng thái giỏ hàng của khách hàng và phiên đăng nhập của tài khoản người dùng.</a:t>
            </a:r>
          </a:p>
        </p:txBody>
      </p:sp>
      <p:sp>
        <p:nvSpPr>
          <p:cNvPr id="11" name="TextBox 10"/>
          <p:cNvSpPr txBox="1"/>
          <p:nvPr/>
        </p:nvSpPr>
        <p:spPr>
          <a:xfrm>
            <a:off x="6581775" y="3670845"/>
            <a:ext cx="4733925" cy="457200"/>
          </a:xfrm>
          <a:prstGeom prst="rect">
            <a:avLst/>
          </a:prstGeom>
          <a:noFill/>
        </p:spPr>
        <p:txBody>
          <a:bodyPr wrap="square" lIns="0" rIns="0" tIns="0" bIns="0" anchor="t">
            <a:spAutoFit/>
          </a:bodyPr>
          <a:lstStyle/>
          <a:p>
            <a:pPr algn="l">
              <a:lnSpc>
                <a:spcPts val="1800"/>
              </a:lnSpc>
            </a:pPr>
            <a:r>
              <a:rPr b="0" sz="1200" i="0" u="none">
                <a:solidFill>
                  <a:srgbClr val="94A3B8"/>
                </a:solidFill>
                <a:latin typeface="Inter"/>
              </a:rPr>
              <a:t>• </a:t>
            </a:r>
            <a:r>
              <a:rPr b="1" sz="1200" i="0" u="none">
                <a:solidFill>
                  <a:srgbClr val="94A3B8"/>
                </a:solidFill>
                <a:latin typeface="Inter"/>
              </a:rPr>
              <a:t>Phân quyền (Authentication):</a:t>
            </a:r>
            <a:r>
              <a:rPr b="0" sz="1200" i="0" u="none">
                <a:solidFill>
                  <a:srgbClr val="94A3B8"/>
                </a:solidFill>
                <a:latin typeface="Inter"/>
              </a:rPr>
              <a:t> Kiểm soát truy cập nghiêm ngặt giữa phân hệ Khách hàng và phân hệ Quản trị Admin.</a:t>
            </a:r>
          </a:p>
        </p:txBody>
      </p:sp>
      <p:pic>
        <p:nvPicPr>
          <p:cNvPr id="12" name="Picture 11" descr="image.png"/>
          <p:cNvPicPr>
            <a:picLocks noChangeAspect="1"/>
          </p:cNvPicPr>
          <p:nvPr/>
        </p:nvPicPr>
        <p:blipFill>
          <a:blip r:embed="rId5"/>
          <a:stretch>
            <a:fillRect/>
          </a:stretch>
        </p:blipFill>
        <p:spPr>
          <a:xfrm>
            <a:off x="876300" y="2718345"/>
            <a:ext cx="238125" cy="209550"/>
          </a:xfrm>
          <a:prstGeom prst="rect">
            <a:avLst/>
          </a:prstGeom>
        </p:spPr>
      </p:pic>
      <p:pic>
        <p:nvPicPr>
          <p:cNvPr id="13" name="Picture 12" descr="image.png"/>
          <p:cNvPicPr>
            <a:picLocks noChangeAspect="1"/>
          </p:cNvPicPr>
          <p:nvPr/>
        </p:nvPicPr>
        <p:blipFill>
          <a:blip r:embed="rId6"/>
          <a:stretch>
            <a:fillRect/>
          </a:stretch>
        </p:blipFill>
        <p:spPr>
          <a:xfrm>
            <a:off x="6581775" y="2718345"/>
            <a:ext cx="209550" cy="209550"/>
          </a:xfrm>
          <a:prstGeom prst="rect">
            <a:avLst/>
          </a:prstGeom>
        </p:spPr>
      </p:pic>
      <p:sp>
        <p:nvSpPr>
          <p:cNvPr id="14" name="TextBox 13"/>
          <p:cNvSpPr txBox="1"/>
          <p:nvPr/>
        </p:nvSpPr>
        <p:spPr>
          <a:xfrm>
            <a:off x="723900" y="485775"/>
            <a:ext cx="11431428" cy="388590"/>
          </a:xfrm>
          <a:prstGeom prst="rect">
            <a:avLst/>
          </a:prstGeom>
          <a:noFill/>
        </p:spPr>
        <p:txBody>
          <a:bodyPr wrap="square" lIns="0" rIns="0" tIns="0" bIns="0" anchor="t">
            <a:spAutoFit/>
          </a:bodyPr>
          <a:lstStyle/>
          <a:p>
            <a:pPr algn="l">
              <a:lnSpc>
                <a:spcPts val="3060"/>
              </a:lnSpc>
            </a:pPr>
            <a:r>
              <a:rPr b="0" sz="2550" i="0" u="none">
                <a:solidFill>
                  <a:srgbClr val="F8FAFC"/>
                </a:solidFill>
                <a:latin typeface="Poppins SemiBold"/>
              </a:rPr>
              <a:t>Kiến Trúc </a:t>
            </a:r>
            <a:r>
              <a:rPr b="0" sz="2550" i="0" u="none">
                <a:solidFill>
                  <a:srgbClr val="38BDF8"/>
                </a:solidFill>
                <a:latin typeface="Poppins SemiBold"/>
              </a:rPr>
              <a:t>Mô Hình ASP.NET MVC</a:t>
            </a:r>
          </a:p>
        </p:txBody>
      </p:sp>
      <p:sp>
        <p:nvSpPr>
          <p:cNvPr id="15" name="Rectangle 14"/>
          <p:cNvSpPr/>
          <p:nvPr/>
        </p:nvSpPr>
        <p:spPr>
          <a:xfrm>
            <a:off x="581025" y="485775"/>
            <a:ext cx="47625" cy="38859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Rounded Rectangle 2"/>
          <p:cNvSpPr/>
          <p:nvPr/>
        </p:nvSpPr>
        <p:spPr>
          <a:xfrm>
            <a:off x="581025" y="2480220"/>
            <a:ext cx="11029950" cy="2524125"/>
          </a:xfrm>
          <a:prstGeom prst="roundRect">
            <a:avLst>
              <a:gd name="adj" fmla="val 0"/>
            </a:avLst>
          </a:prstGeom>
          <a:solidFill>
            <a:srgbClr val="1E293B"/>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81025" y="2480220"/>
          <a:ext cx="11020423" cy="2524125"/>
        </p:xfrm>
        <a:graphic>
          <a:graphicData uri="http://schemas.openxmlformats.org/drawingml/2006/table">
            <a:tbl>
              <a:tblPr firstRow="1" bandRow="1">
                <a:tableStyleId>{5C22544A-7EE6-4342-B048-85BDC9FD1C3A}</a:tableStyleId>
                <a:lnL>
                  <a:noFill/>
                </a:lnL>
                <a:lnR>
                  <a:noFill/>
                </a:lnR>
                <a:lnT>
                  <a:noFill/>
                </a:lnT>
                <a:lnB>
                  <a:noFill/>
                </a:lnB>
                <a:lnV>
                  <a:noFill/>
                </a:lnV>
                <a:lnH>
                  <a:noFill/>
                </a:lnH>
              </a:tblPr>
              <a:tblGrid>
                <a:gridCol w="2110085"/>
                <a:gridCol w="1699914"/>
                <a:gridCol w="2055762"/>
                <a:gridCol w="5154662"/>
              </a:tblGrid>
              <a:tr h="504825">
                <a:tc>
                  <a:txBody>
                    <a:bodyPr/>
                    <a:lstStyle/>
                    <a:p>
                      <a:pPr algn="l"/>
                      <a:r>
                        <a:rPr b="0" sz="1125" i="0" u="none">
                          <a:solidFill>
                            <a:srgbClr val="38BDF8"/>
                          </a:solidFill>
                          <a:latin typeface="Poppins SemiBold"/>
                        </a:rPr>
                        <a:t>Tên Bảng (Table)</a:t>
                      </a:r>
                    </a:p>
                  </a:txBody>
                  <a:tcPr anchor="ctr" marL="63500" marR="63500" marT="25400" marB="25400">
                    <a:lnL>
                      <a:noFill/>
                    </a:lnL>
                    <a:lnR>
                      <a:noFill/>
                    </a:lnR>
                    <a:lnT>
                      <a:noFill/>
                    </a:lnT>
                    <a:lnB>
                      <a:noFill/>
                    </a:lnB>
                    <a:solidFill>
                      <a:srgbClr val="0F172A"/>
                    </a:solidFill>
                  </a:tcPr>
                </a:tc>
                <a:tc>
                  <a:txBody>
                    <a:bodyPr/>
                    <a:lstStyle/>
                    <a:p>
                      <a:pPr algn="l"/>
                      <a:r>
                        <a:rPr b="0" sz="1125" i="0" u="none">
                          <a:solidFill>
                            <a:srgbClr val="38BDF8"/>
                          </a:solidFill>
                          <a:latin typeface="Poppins SemiBold"/>
                        </a:rPr>
                        <a:t>Khóa Chính (PK)</a:t>
                      </a:r>
                    </a:p>
                  </a:txBody>
                  <a:tcPr anchor="ctr" marL="63500" marR="63500" marT="25400" marB="25400">
                    <a:lnL>
                      <a:noFill/>
                    </a:lnL>
                    <a:lnR>
                      <a:noFill/>
                    </a:lnR>
                    <a:lnT>
                      <a:noFill/>
                    </a:lnT>
                    <a:lnB>
                      <a:noFill/>
                    </a:lnB>
                    <a:solidFill>
                      <a:srgbClr val="0F172A"/>
                    </a:solidFill>
                  </a:tcPr>
                </a:tc>
                <a:tc>
                  <a:txBody>
                    <a:bodyPr/>
                    <a:lstStyle/>
                    <a:p>
                      <a:pPr algn="l"/>
                      <a:r>
                        <a:rPr b="0" sz="1125" i="0" u="none">
                          <a:solidFill>
                            <a:srgbClr val="38BDF8"/>
                          </a:solidFill>
                          <a:latin typeface="Poppins SemiBold"/>
                        </a:rPr>
                        <a:t>Khóa Ngoại (FK)</a:t>
                      </a:r>
                    </a:p>
                  </a:txBody>
                  <a:tcPr anchor="ctr" marL="63500" marR="63500" marT="25400" marB="25400">
                    <a:lnL>
                      <a:noFill/>
                    </a:lnL>
                    <a:lnR>
                      <a:noFill/>
                    </a:lnR>
                    <a:lnT>
                      <a:noFill/>
                    </a:lnT>
                    <a:lnB>
                      <a:noFill/>
                    </a:lnB>
                    <a:solidFill>
                      <a:srgbClr val="0F172A"/>
                    </a:solidFill>
                  </a:tcPr>
                </a:tc>
                <a:tc>
                  <a:txBody>
                    <a:bodyPr/>
                    <a:lstStyle/>
                    <a:p>
                      <a:pPr algn="l"/>
                      <a:r>
                        <a:rPr b="0" sz="1125" i="0" u="none">
                          <a:solidFill>
                            <a:srgbClr val="38BDF8"/>
                          </a:solidFill>
                          <a:latin typeface="Poppins SemiBold"/>
                        </a:rPr>
                        <a:t>Nhiệm Vụ &amp; Dữ Liệu Lưu Trữ</a:t>
                      </a:r>
                    </a:p>
                  </a:txBody>
                  <a:tcPr anchor="ctr" marL="63500" marR="63500" marT="25400" marB="25400">
                    <a:lnL>
                      <a:noFill/>
                    </a:lnL>
                    <a:lnR>
                      <a:noFill/>
                    </a:lnR>
                    <a:lnT>
                      <a:noFill/>
                    </a:lnT>
                    <a:lnB>
                      <a:noFill/>
                    </a:lnB>
                    <a:solidFill>
                      <a:srgbClr val="0F172A"/>
                    </a:solidFill>
                  </a:tcPr>
                </a:tc>
              </a:tr>
              <a:tr h="504825">
                <a:tc>
                  <a:txBody>
                    <a:bodyPr/>
                    <a:lstStyle/>
                    <a:p>
                      <a:pPr algn="l"/>
                      <a:r>
                        <a:rPr b="1" sz="1125" i="0" u="none">
                          <a:solidFill>
                            <a:srgbClr val="CBD5E1"/>
                          </a:solidFill>
                          <a:latin typeface="Inter"/>
                        </a:rPr>
                        <a:t>TaiKhoan</a:t>
                      </a:r>
                    </a:p>
                  </a:txBody>
                  <a:tcPr anchor="ctr" marL="63500" marR="63500" marT="25400" marB="25400">
                    <a:lnL>
                      <a:noFill/>
                    </a:lnL>
                    <a:lnR>
                      <a:noFill/>
                    </a:lnR>
                    <a:lnT>
                      <a:noFill/>
                    </a:lnT>
                    <a:lnB>
                      <a:noFill/>
                    </a:lnB>
                    <a:noFill/>
                  </a:tcPr>
                </a:tc>
                <a:tc>
                  <a:txBody>
                    <a:bodyPr/>
                    <a:lstStyle/>
                    <a:p>
                      <a:pPr algn="l"/>
                      <a:r>
                        <a:rPr b="0" sz="1125" i="0" u="none">
                          <a:solidFill>
                            <a:srgbClr val="CBD5E1"/>
                          </a:solidFill>
                          <a:latin typeface="Inter"/>
                        </a:rPr>
                        <a:t>MaTaiKhoan</a:t>
                      </a:r>
                    </a:p>
                  </a:txBody>
                  <a:tcPr anchor="ctr" marL="63500" marR="63500" marT="25400" marB="25400">
                    <a:lnL>
                      <a:noFill/>
                    </a:lnL>
                    <a:lnR>
                      <a:noFill/>
                    </a:lnR>
                    <a:lnT>
                      <a:noFill/>
                    </a:lnT>
                    <a:lnB>
                      <a:noFill/>
                    </a:lnB>
                    <a:noFill/>
                  </a:tcPr>
                </a:tc>
                <a:tc>
                  <a:txBody>
                    <a:bodyPr/>
                    <a:lstStyle/>
                    <a:p>
                      <a:pPr algn="l"/>
                      <a:r>
                        <a:rPr b="0" sz="1125" i="0" u="none">
                          <a:solidFill>
                            <a:srgbClr val="CBD5E1"/>
                          </a:solidFill>
                          <a:latin typeface="Inter"/>
                        </a:rPr>
                        <a:t>-</a:t>
                      </a:r>
                    </a:p>
                  </a:txBody>
                  <a:tcPr anchor="ctr" marL="63500" marR="63500" marT="25400" marB="25400">
                    <a:lnL>
                      <a:noFill/>
                    </a:lnL>
                    <a:lnR>
                      <a:noFill/>
                    </a:lnR>
                    <a:lnT>
                      <a:noFill/>
                    </a:lnT>
                    <a:lnB>
                      <a:noFill/>
                    </a:lnB>
                    <a:noFill/>
                  </a:tcPr>
                </a:tc>
                <a:tc>
                  <a:txBody>
                    <a:bodyPr/>
                    <a:lstStyle/>
                    <a:p>
                      <a:pPr algn="l"/>
                      <a:r>
                        <a:rPr b="0" sz="1125" i="0" u="none">
                          <a:solidFill>
                            <a:srgbClr val="CBD5E1"/>
                          </a:solidFill>
                          <a:latin typeface="Inter"/>
                        </a:rPr>
                        <a:t>Tên đăng nhập, mật khẩu, họ tên, email, vai trò (Admin/Customer)</a:t>
                      </a:r>
                    </a:p>
                  </a:txBody>
                  <a:tcPr anchor="ctr" marL="63500" marR="63500" marT="25400" marB="25400">
                    <a:lnL>
                      <a:noFill/>
                    </a:lnL>
                    <a:lnR>
                      <a:noFill/>
                    </a:lnR>
                    <a:lnT>
                      <a:noFill/>
                    </a:lnT>
                    <a:lnB>
                      <a:noFill/>
                    </a:lnB>
                    <a:noFill/>
                  </a:tcPr>
                </a:tc>
              </a:tr>
              <a:tr h="504825">
                <a:tc>
                  <a:txBody>
                    <a:bodyPr/>
                    <a:lstStyle/>
                    <a:p>
                      <a:pPr algn="l"/>
                      <a:r>
                        <a:rPr b="1" sz="1125" i="0" u="none">
                          <a:solidFill>
                            <a:srgbClr val="CBD5E1"/>
                          </a:solidFill>
                          <a:latin typeface="Inter"/>
                        </a:rPr>
                        <a:t>SanPham</a:t>
                      </a:r>
                    </a:p>
                  </a:txBody>
                  <a:tcPr anchor="ctr" marL="63500" marR="63500" marT="25400" marB="25400">
                    <a:lnL>
                      <a:noFill/>
                    </a:lnL>
                    <a:lnR>
                      <a:noFill/>
                    </a:lnR>
                    <a:lnT>
                      <a:noFill/>
                    </a:lnT>
                    <a:lnB>
                      <a:noFill/>
                    </a:lnB>
                    <a:noFill/>
                  </a:tcPr>
                </a:tc>
                <a:tc>
                  <a:txBody>
                    <a:bodyPr/>
                    <a:lstStyle/>
                    <a:p>
                      <a:pPr algn="l"/>
                      <a:r>
                        <a:rPr b="0" sz="1125" i="0" u="none">
                          <a:solidFill>
                            <a:srgbClr val="CBD5E1"/>
                          </a:solidFill>
                          <a:latin typeface="Inter"/>
                        </a:rPr>
                        <a:t>MaSP</a:t>
                      </a:r>
                    </a:p>
                  </a:txBody>
                  <a:tcPr anchor="ctr" marL="63500" marR="63500" marT="25400" marB="25400">
                    <a:lnL>
                      <a:noFill/>
                    </a:lnL>
                    <a:lnR>
                      <a:noFill/>
                    </a:lnR>
                    <a:lnT>
                      <a:noFill/>
                    </a:lnT>
                    <a:lnB>
                      <a:noFill/>
                    </a:lnB>
                    <a:noFill/>
                  </a:tcPr>
                </a:tc>
                <a:tc>
                  <a:txBody>
                    <a:bodyPr/>
                    <a:lstStyle/>
                    <a:p>
                      <a:pPr algn="l"/>
                      <a:r>
                        <a:rPr b="0" sz="1125" i="0" u="none">
                          <a:solidFill>
                            <a:srgbClr val="CBD5E1"/>
                          </a:solidFill>
                          <a:latin typeface="Inter"/>
                        </a:rPr>
                        <a:t>MaLoai, MaThuongHieu</a:t>
                      </a:r>
                    </a:p>
                  </a:txBody>
                  <a:tcPr anchor="ctr" marL="63500" marR="63500" marT="25400" marB="25400">
                    <a:lnL>
                      <a:noFill/>
                    </a:lnL>
                    <a:lnR>
                      <a:noFill/>
                    </a:lnR>
                    <a:lnT>
                      <a:noFill/>
                    </a:lnT>
                    <a:lnB>
                      <a:noFill/>
                    </a:lnB>
                    <a:noFill/>
                  </a:tcPr>
                </a:tc>
                <a:tc>
                  <a:txBody>
                    <a:bodyPr/>
                    <a:lstStyle/>
                    <a:p>
                      <a:pPr algn="l"/>
                      <a:r>
                        <a:rPr b="0" sz="1125" i="0" u="none">
                          <a:solidFill>
                            <a:srgbClr val="CBD5E1"/>
                          </a:solidFill>
                          <a:latin typeface="Inter"/>
                        </a:rPr>
                        <a:t>Tên giày, hình ảnh, giá bán, mô tả, số lượng tồn, trạng thái</a:t>
                      </a:r>
                    </a:p>
                  </a:txBody>
                  <a:tcPr anchor="ctr" marL="63500" marR="63500" marT="25400" marB="25400">
                    <a:lnL>
                      <a:noFill/>
                    </a:lnL>
                    <a:lnR>
                      <a:noFill/>
                    </a:lnR>
                    <a:lnT>
                      <a:noFill/>
                    </a:lnT>
                    <a:lnB>
                      <a:noFill/>
                    </a:lnB>
                    <a:noFill/>
                  </a:tcPr>
                </a:tc>
              </a:tr>
              <a:tr h="504825">
                <a:tc>
                  <a:txBody>
                    <a:bodyPr/>
                    <a:lstStyle/>
                    <a:p>
                      <a:pPr algn="l"/>
                      <a:r>
                        <a:rPr b="1" sz="1125" i="0" u="none">
                          <a:solidFill>
                            <a:srgbClr val="CBD5E1"/>
                          </a:solidFill>
                          <a:latin typeface="Inter"/>
                        </a:rPr>
                        <a:t>LoaiGiay / ThuongHieu</a:t>
                      </a:r>
                    </a:p>
                  </a:txBody>
                  <a:tcPr anchor="ctr" marL="63500" marR="63500" marT="25400" marB="25400">
                    <a:lnL>
                      <a:noFill/>
                    </a:lnL>
                    <a:lnR>
                      <a:noFill/>
                    </a:lnR>
                    <a:lnT>
                      <a:noFill/>
                    </a:lnT>
                    <a:lnB>
                      <a:noFill/>
                    </a:lnB>
                    <a:noFill/>
                  </a:tcPr>
                </a:tc>
                <a:tc>
                  <a:txBody>
                    <a:bodyPr/>
                    <a:lstStyle/>
                    <a:p>
                      <a:pPr algn="l"/>
                      <a:r>
                        <a:rPr b="0" sz="1125" i="0" u="none">
                          <a:solidFill>
                            <a:srgbClr val="CBD5E1"/>
                          </a:solidFill>
                          <a:latin typeface="Inter"/>
                        </a:rPr>
                        <a:t>MaLoai / MaTH</a:t>
                      </a:r>
                    </a:p>
                  </a:txBody>
                  <a:tcPr anchor="ctr" marL="63500" marR="63500" marT="25400" marB="25400">
                    <a:lnL>
                      <a:noFill/>
                    </a:lnL>
                    <a:lnR>
                      <a:noFill/>
                    </a:lnR>
                    <a:lnT>
                      <a:noFill/>
                    </a:lnT>
                    <a:lnB>
                      <a:noFill/>
                    </a:lnB>
                    <a:noFill/>
                  </a:tcPr>
                </a:tc>
                <a:tc>
                  <a:txBody>
                    <a:bodyPr/>
                    <a:lstStyle/>
                    <a:p>
                      <a:pPr algn="l"/>
                      <a:r>
                        <a:rPr b="0" sz="1125" i="0" u="none">
                          <a:solidFill>
                            <a:srgbClr val="CBD5E1"/>
                          </a:solidFill>
                          <a:latin typeface="Inter"/>
                        </a:rPr>
                        <a:t>-</a:t>
                      </a:r>
                    </a:p>
                  </a:txBody>
                  <a:tcPr anchor="ctr" marL="63500" marR="63500" marT="25400" marB="25400">
                    <a:lnL>
                      <a:noFill/>
                    </a:lnL>
                    <a:lnR>
                      <a:noFill/>
                    </a:lnR>
                    <a:lnT>
                      <a:noFill/>
                    </a:lnT>
                    <a:lnB>
                      <a:noFill/>
                    </a:lnB>
                    <a:noFill/>
                  </a:tcPr>
                </a:tc>
                <a:tc>
                  <a:txBody>
                    <a:bodyPr/>
                    <a:lstStyle/>
                    <a:p>
                      <a:pPr algn="l"/>
                      <a:r>
                        <a:rPr b="0" sz="1125" i="0" u="none">
                          <a:solidFill>
                            <a:srgbClr val="CBD5E1"/>
                          </a:solidFill>
                          <a:latin typeface="Inter"/>
                        </a:rPr>
                        <a:t>Phân loại giày (Thể thao, Công sở...) và Thương hiệu (Nike, Adidas...)</a:t>
                      </a:r>
                    </a:p>
                  </a:txBody>
                  <a:tcPr anchor="ctr" marL="63500" marR="63500" marT="25400" marB="25400">
                    <a:lnL>
                      <a:noFill/>
                    </a:lnL>
                    <a:lnR>
                      <a:noFill/>
                    </a:lnR>
                    <a:lnT>
                      <a:noFill/>
                    </a:lnT>
                    <a:lnB>
                      <a:noFill/>
                    </a:lnB>
                    <a:noFill/>
                  </a:tcPr>
                </a:tc>
              </a:tr>
              <a:tr h="504825">
                <a:tc>
                  <a:txBody>
                    <a:bodyPr/>
                    <a:lstStyle/>
                    <a:p>
                      <a:pPr algn="l"/>
                      <a:r>
                        <a:rPr b="1" sz="1125" i="0" u="none">
                          <a:solidFill>
                            <a:srgbClr val="CBD5E1"/>
                          </a:solidFill>
                          <a:latin typeface="Inter"/>
                        </a:rPr>
                        <a:t>DonHang &amp; CTDonHang</a:t>
                      </a:r>
                    </a:p>
                  </a:txBody>
                  <a:tcPr anchor="ctr" marL="63500" marR="63500" marT="25400" marB="25400">
                    <a:lnL>
                      <a:noFill/>
                    </a:lnL>
                    <a:lnR>
                      <a:noFill/>
                    </a:lnR>
                    <a:lnT>
                      <a:noFill/>
                    </a:lnT>
                    <a:lnB>
                      <a:noFill/>
                    </a:lnB>
                    <a:noFill/>
                  </a:tcPr>
                </a:tc>
                <a:tc>
                  <a:txBody>
                    <a:bodyPr/>
                    <a:lstStyle/>
                    <a:p>
                      <a:pPr algn="l"/>
                      <a:r>
                        <a:rPr b="0" sz="1125" i="0" u="none">
                          <a:solidFill>
                            <a:srgbClr val="CBD5E1"/>
                          </a:solidFill>
                          <a:latin typeface="Inter"/>
                        </a:rPr>
                        <a:t>MaDonHang</a:t>
                      </a:r>
                    </a:p>
                  </a:txBody>
                  <a:tcPr anchor="ctr" marL="63500" marR="63500" marT="25400" marB="25400">
                    <a:lnL>
                      <a:noFill/>
                    </a:lnL>
                    <a:lnR>
                      <a:noFill/>
                    </a:lnR>
                    <a:lnT>
                      <a:noFill/>
                    </a:lnT>
                    <a:lnB>
                      <a:noFill/>
                    </a:lnB>
                    <a:noFill/>
                  </a:tcPr>
                </a:tc>
                <a:tc>
                  <a:txBody>
                    <a:bodyPr/>
                    <a:lstStyle/>
                    <a:p>
                      <a:pPr algn="l"/>
                      <a:r>
                        <a:rPr b="0" sz="1125" i="0" u="none">
                          <a:solidFill>
                            <a:srgbClr val="CBD5E1"/>
                          </a:solidFill>
                          <a:latin typeface="Inter"/>
                        </a:rPr>
                        <a:t>MaTaiKhoan, MaSP</a:t>
                      </a:r>
                    </a:p>
                  </a:txBody>
                  <a:tcPr anchor="ctr" marL="63500" marR="63500" marT="25400" marB="25400">
                    <a:lnL>
                      <a:noFill/>
                    </a:lnL>
                    <a:lnR>
                      <a:noFill/>
                    </a:lnR>
                    <a:lnT>
                      <a:noFill/>
                    </a:lnT>
                    <a:lnB>
                      <a:noFill/>
                    </a:lnB>
                    <a:noFill/>
                  </a:tcPr>
                </a:tc>
                <a:tc>
                  <a:txBody>
                    <a:bodyPr/>
                    <a:lstStyle/>
                    <a:p>
                      <a:pPr algn="l"/>
                      <a:r>
                        <a:rPr b="0" sz="1125" i="0" u="none">
                          <a:solidFill>
                            <a:srgbClr val="CBD5E1"/>
                          </a:solidFill>
                          <a:latin typeface="Inter"/>
                        </a:rPr>
                        <a:t>Ngày đặt, tổng tiền, địa chỉ giao, thông tin chi tiết từng đôi giày mua</a:t>
                      </a:r>
                    </a:p>
                  </a:txBody>
                  <a:tcPr anchor="ctr" marL="63500" marR="63500" marT="25400" marB="25400">
                    <a:lnL>
                      <a:noFill/>
                    </a:lnL>
                    <a:lnR>
                      <a:noFill/>
                    </a:lnR>
                    <a:lnT>
                      <a:noFill/>
                    </a:lnT>
                    <a:lnB>
                      <a:noFill/>
                    </a:lnB>
                    <a:noFill/>
                  </a:tcPr>
                </a:tc>
              </a:tr>
            </a:tbl>
          </a:graphicData>
        </a:graphic>
      </p:graphicFrame>
      <p:sp>
        <p:nvSpPr>
          <p:cNvPr id="5" name="Rectangle 4"/>
          <p:cNvSpPr/>
          <p:nvPr/>
        </p:nvSpPr>
        <p:spPr>
          <a:xfrm>
            <a:off x="585787" y="3008858"/>
            <a:ext cx="2110085" cy="9525"/>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695872" y="3008858"/>
            <a:ext cx="1699914" cy="9525"/>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395787" y="3008858"/>
            <a:ext cx="2055762" cy="9525"/>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51550" y="3008858"/>
            <a:ext cx="5154662" cy="9525"/>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85787" y="3504158"/>
            <a:ext cx="2110085" cy="9525"/>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695872" y="3504158"/>
            <a:ext cx="1699914" cy="9525"/>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95787" y="3504158"/>
            <a:ext cx="2055762" cy="9525"/>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51550" y="3504158"/>
            <a:ext cx="5154662" cy="9525"/>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85787" y="3999458"/>
            <a:ext cx="2110085" cy="9525"/>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95872" y="3999458"/>
            <a:ext cx="1699914" cy="9525"/>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95787" y="3999458"/>
            <a:ext cx="2055762" cy="9525"/>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51550" y="3999458"/>
            <a:ext cx="5154662" cy="9525"/>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85787" y="4494758"/>
            <a:ext cx="2110085" cy="9525"/>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695872" y="4494758"/>
            <a:ext cx="1699914" cy="9525"/>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95787" y="4494758"/>
            <a:ext cx="2055762" cy="9525"/>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51550" y="4494758"/>
            <a:ext cx="5154662" cy="9525"/>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3900" y="485775"/>
            <a:ext cx="11431428" cy="388590"/>
          </a:xfrm>
          <a:prstGeom prst="rect">
            <a:avLst/>
          </a:prstGeom>
          <a:noFill/>
        </p:spPr>
        <p:txBody>
          <a:bodyPr wrap="square" lIns="0" rIns="0" tIns="0" bIns="0" anchor="t">
            <a:spAutoFit/>
          </a:bodyPr>
          <a:lstStyle/>
          <a:p>
            <a:pPr algn="l">
              <a:lnSpc>
                <a:spcPts val="3060"/>
              </a:lnSpc>
            </a:pPr>
            <a:r>
              <a:rPr b="0" sz="2550" i="0" u="none">
                <a:solidFill>
                  <a:srgbClr val="F8FAFC"/>
                </a:solidFill>
                <a:latin typeface="Poppins SemiBold"/>
              </a:rPr>
              <a:t>Cơ Sở Dữ Liệu </a:t>
            </a:r>
            <a:r>
              <a:rPr b="0" sz="2550" i="0" u="none">
                <a:solidFill>
                  <a:srgbClr val="38BDF8"/>
                </a:solidFill>
                <a:latin typeface="Poppins SemiBold"/>
              </a:rPr>
              <a:t>Cốt Lõi (SQL Server)</a:t>
            </a:r>
          </a:p>
        </p:txBody>
      </p:sp>
      <p:sp>
        <p:nvSpPr>
          <p:cNvPr id="22" name="Rectangle 21"/>
          <p:cNvSpPr/>
          <p:nvPr/>
        </p:nvSpPr>
        <p:spPr>
          <a:xfrm>
            <a:off x="581025" y="485775"/>
            <a:ext cx="47625" cy="38859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95509" y="2857500"/>
            <a:ext cx="10400831" cy="742950"/>
          </a:xfrm>
          <a:prstGeom prst="rect">
            <a:avLst/>
          </a:prstGeom>
          <a:noFill/>
        </p:spPr>
        <p:txBody>
          <a:bodyPr wrap="square" lIns="0" rIns="0" tIns="0" bIns="0" anchor="t">
            <a:spAutoFit/>
          </a:bodyPr>
          <a:lstStyle/>
          <a:p>
            <a:pPr algn="ctr"/>
            <a:r>
              <a:rPr b="0" sz="3900" i="0" u="none">
                <a:solidFill>
                  <a:srgbClr val="FFFFFF"/>
                </a:solidFill>
                <a:latin typeface="Poppins SemiBold"/>
              </a:rPr>
              <a:t>03. CHỨC NĂNG &amp; GIAO DIỆN HỆ THỐNG</a:t>
            </a:r>
          </a:p>
        </p:txBody>
      </p:sp>
      <p:sp>
        <p:nvSpPr>
          <p:cNvPr id="4" name="TextBox 3"/>
          <p:cNvSpPr txBox="1"/>
          <p:nvPr/>
        </p:nvSpPr>
        <p:spPr>
          <a:xfrm>
            <a:off x="2524125" y="3743325"/>
            <a:ext cx="7143750" cy="571500"/>
          </a:xfrm>
          <a:prstGeom prst="rect">
            <a:avLst/>
          </a:prstGeom>
          <a:noFill/>
        </p:spPr>
        <p:txBody>
          <a:bodyPr wrap="square" lIns="0" rIns="0" tIns="0" bIns="0" anchor="t">
            <a:spAutoFit/>
          </a:bodyPr>
          <a:lstStyle/>
          <a:p>
            <a:pPr algn="ctr">
              <a:lnSpc>
                <a:spcPts val="2250"/>
              </a:lnSpc>
            </a:pPr>
            <a:r>
              <a:rPr b="0" sz="1500" i="0" u="none">
                <a:solidFill>
                  <a:srgbClr val="94A3B8"/>
                </a:solidFill>
                <a:latin typeface="Inter"/>
              </a:rPr>
              <a:t>Chi tiết phân hệ Khách hàng mua sắm, phân hệ Quản trị Admin và quy trình xử lý đơn hàng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723900" y="485775"/>
            <a:ext cx="5140642" cy="388590"/>
          </a:xfrm>
          <a:prstGeom prst="rect">
            <a:avLst/>
          </a:prstGeom>
          <a:noFill/>
        </p:spPr>
        <p:txBody>
          <a:bodyPr wrap="square" lIns="0" rIns="0" tIns="0" bIns="0" anchor="t">
            <a:spAutoFit/>
          </a:bodyPr>
          <a:lstStyle/>
          <a:p>
            <a:pPr algn="l">
              <a:lnSpc>
                <a:spcPts val="3060"/>
              </a:lnSpc>
            </a:pPr>
            <a:r>
              <a:rPr b="0" sz="2550" i="0" u="none">
                <a:solidFill>
                  <a:srgbClr val="F8FAFC"/>
                </a:solidFill>
                <a:latin typeface="Poppins SemiBold"/>
              </a:rPr>
              <a:t>Giao Diện </a:t>
            </a:r>
            <a:r>
              <a:rPr b="0" sz="2550" i="0" u="none">
                <a:solidFill>
                  <a:srgbClr val="38BDF8"/>
                </a:solidFill>
                <a:latin typeface="Poppins SemiBold"/>
              </a:rPr>
              <a:t>Mua Sắm Giày Dép</a:t>
            </a:r>
          </a:p>
        </p:txBody>
      </p:sp>
      <p:sp>
        <p:nvSpPr>
          <p:cNvPr id="4" name="Rectangle 3"/>
          <p:cNvSpPr/>
          <p:nvPr/>
        </p:nvSpPr>
        <p:spPr>
          <a:xfrm>
            <a:off x="581025" y="485775"/>
            <a:ext cx="47625" cy="38859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3"/>
          <a:stretch>
            <a:fillRect/>
          </a:stretch>
        </p:blipFill>
        <p:spPr>
          <a:xfrm>
            <a:off x="6096000" y="9525"/>
            <a:ext cx="6086475" cy="6858000"/>
          </a:xfrm>
          <a:prstGeom prst="rect">
            <a:avLst/>
          </a:prstGeom>
        </p:spPr>
      </p:pic>
      <p:sp>
        <p:nvSpPr>
          <p:cNvPr id="6" name="TextBox 5"/>
          <p:cNvSpPr txBox="1"/>
          <p:nvPr/>
        </p:nvSpPr>
        <p:spPr>
          <a:xfrm>
            <a:off x="581025" y="1112490"/>
            <a:ext cx="5290661" cy="276225"/>
          </a:xfrm>
          <a:prstGeom prst="rect">
            <a:avLst/>
          </a:prstGeom>
          <a:noFill/>
        </p:spPr>
        <p:txBody>
          <a:bodyPr wrap="square" lIns="0" rIns="0" tIns="0" bIns="0" anchor="t">
            <a:spAutoFit/>
          </a:bodyPr>
          <a:lstStyle/>
          <a:p>
            <a:pPr algn="l"/>
            <a:r>
              <a:rPr b="0" sz="1404" i="0" u="none">
                <a:solidFill>
                  <a:srgbClr val="F8FAFC"/>
                </a:solidFill>
                <a:latin typeface="Poppins SemiBold"/>
              </a:rPr>
              <a:t>Trải Nghiệm Mua Sắm Trực Quan</a:t>
            </a:r>
          </a:p>
        </p:txBody>
      </p:sp>
      <p:sp>
        <p:nvSpPr>
          <p:cNvPr id="7" name="TextBox 6"/>
          <p:cNvSpPr txBox="1"/>
          <p:nvPr/>
        </p:nvSpPr>
        <p:spPr>
          <a:xfrm>
            <a:off x="581025" y="1388715"/>
            <a:ext cx="5038725" cy="457200"/>
          </a:xfrm>
          <a:prstGeom prst="rect">
            <a:avLst/>
          </a:prstGeom>
          <a:noFill/>
        </p:spPr>
        <p:txBody>
          <a:bodyPr wrap="square" lIns="0" rIns="0" tIns="0" bIns="0" anchor="t">
            <a:spAutoFit/>
          </a:bodyPr>
          <a:lstStyle/>
          <a:p>
            <a:pPr algn="l">
              <a:lnSpc>
                <a:spcPts val="1800"/>
              </a:lnSpc>
            </a:pPr>
            <a:r>
              <a:rPr b="0" sz="1200" i="0" u="none">
                <a:solidFill>
                  <a:srgbClr val="94A3B8"/>
                </a:solidFill>
                <a:latin typeface="Inter"/>
              </a:rPr>
              <a:t>Website được thiết kế tối ưu hiển thị hình ảnh giày dép sắc nét, giúp khách hàng chọn lựa mẫu mã nhanh chóng.</a:t>
            </a:r>
          </a:p>
        </p:txBody>
      </p:sp>
      <p:sp>
        <p:nvSpPr>
          <p:cNvPr id="8" name="TextBox 7"/>
          <p:cNvSpPr txBox="1"/>
          <p:nvPr/>
        </p:nvSpPr>
        <p:spPr>
          <a:xfrm>
            <a:off x="581025" y="1960215"/>
            <a:ext cx="5038725" cy="685800"/>
          </a:xfrm>
          <a:prstGeom prst="rect">
            <a:avLst/>
          </a:prstGeom>
          <a:noFill/>
        </p:spPr>
        <p:txBody>
          <a:bodyPr wrap="square" lIns="0" rIns="0" tIns="0" bIns="0" anchor="t">
            <a:spAutoFit/>
          </a:bodyPr>
          <a:lstStyle/>
          <a:p>
            <a:pPr algn="l">
              <a:lnSpc>
                <a:spcPts val="1800"/>
              </a:lnSpc>
            </a:pPr>
            <a:r>
              <a:rPr b="0" sz="1200" i="0" u="none">
                <a:solidFill>
                  <a:srgbClr val="94A3B8"/>
                </a:solidFill>
                <a:latin typeface="Inter"/>
              </a:rPr>
              <a:t>Tích hợp bộ lọc đa tiêu chí (theo danh mục, thương hiệu, tầm giá), hiển thị chi tiết bảng chọn Size giày chuẩn xác và tính năng đặt mua mượt mà.</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81025" y="2604045"/>
            <a:ext cx="5324475" cy="2276475"/>
          </a:xfrm>
          <a:prstGeom prst="rect">
            <a:avLst/>
          </a:prstGeom>
        </p:spPr>
      </p:pic>
      <p:pic>
        <p:nvPicPr>
          <p:cNvPr id="4" name="Picture 3" descr="image.png"/>
          <p:cNvPicPr>
            <a:picLocks noChangeAspect="1"/>
          </p:cNvPicPr>
          <p:nvPr/>
        </p:nvPicPr>
        <p:blipFill>
          <a:blip r:embed="rId4"/>
          <a:stretch>
            <a:fillRect/>
          </a:stretch>
        </p:blipFill>
        <p:spPr>
          <a:xfrm>
            <a:off x="6286500" y="2604045"/>
            <a:ext cx="5324475" cy="2276475"/>
          </a:xfrm>
          <a:prstGeom prst="rect">
            <a:avLst/>
          </a:prstGeom>
        </p:spPr>
      </p:pic>
      <p:sp>
        <p:nvSpPr>
          <p:cNvPr id="5" name="TextBox 4"/>
          <p:cNvSpPr txBox="1"/>
          <p:nvPr/>
        </p:nvSpPr>
        <p:spPr>
          <a:xfrm>
            <a:off x="876300" y="2899320"/>
            <a:ext cx="4970621" cy="314325"/>
          </a:xfrm>
          <a:prstGeom prst="rect">
            <a:avLst/>
          </a:prstGeom>
          <a:noFill/>
        </p:spPr>
        <p:txBody>
          <a:bodyPr wrap="square" lIns="304800" rIns="0" tIns="0" bIns="0" anchor="t">
            <a:spAutoFit/>
          </a:bodyPr>
          <a:lstStyle/>
          <a:p>
            <a:pPr algn="l"/>
            <a:r>
              <a:rPr b="0" sz="1650" i="0" u="none">
                <a:solidFill>
                  <a:srgbClr val="38BDF8"/>
                </a:solidFill>
                <a:latin typeface="Poppins SemiBold"/>
              </a:rPr>
              <a:t>Duyệt &amp; Tìm Kiếm Sản Phẩm</a:t>
            </a:r>
          </a:p>
        </p:txBody>
      </p:sp>
      <p:sp>
        <p:nvSpPr>
          <p:cNvPr id="6" name="TextBox 5"/>
          <p:cNvSpPr txBox="1"/>
          <p:nvPr/>
        </p:nvSpPr>
        <p:spPr>
          <a:xfrm>
            <a:off x="876300" y="3327945"/>
            <a:ext cx="4733925" cy="457200"/>
          </a:xfrm>
          <a:prstGeom prst="rect">
            <a:avLst/>
          </a:prstGeom>
          <a:noFill/>
        </p:spPr>
        <p:txBody>
          <a:bodyPr wrap="square" lIns="0" rIns="0" tIns="0" bIns="0" anchor="t">
            <a:spAutoFit/>
          </a:bodyPr>
          <a:lstStyle/>
          <a:p>
            <a:pPr algn="l">
              <a:lnSpc>
                <a:spcPts val="1800"/>
              </a:lnSpc>
            </a:pPr>
            <a:r>
              <a:rPr b="0" sz="1200" i="0" u="none">
                <a:solidFill>
                  <a:srgbClr val="94A3B8"/>
                </a:solidFill>
                <a:latin typeface="Inter"/>
              </a:rPr>
              <a:t>• Xem danh sách giày dép theo danh mục hot, sản phẩm mới, bán chạy.</a:t>
            </a:r>
          </a:p>
        </p:txBody>
      </p:sp>
      <p:sp>
        <p:nvSpPr>
          <p:cNvPr id="7" name="TextBox 6"/>
          <p:cNvSpPr txBox="1"/>
          <p:nvPr/>
        </p:nvSpPr>
        <p:spPr>
          <a:xfrm>
            <a:off x="876300" y="3899445"/>
            <a:ext cx="4733925" cy="228600"/>
          </a:xfrm>
          <a:prstGeom prst="rect">
            <a:avLst/>
          </a:prstGeom>
          <a:noFill/>
        </p:spPr>
        <p:txBody>
          <a:bodyPr wrap="square" lIns="0" rIns="0" tIns="0" bIns="0" anchor="t">
            <a:spAutoFit/>
          </a:bodyPr>
          <a:lstStyle/>
          <a:p>
            <a:pPr algn="l">
              <a:lnSpc>
                <a:spcPts val="1800"/>
              </a:lnSpc>
            </a:pPr>
            <a:r>
              <a:rPr b="0" sz="1200" i="0" u="none">
                <a:solidFill>
                  <a:srgbClr val="94A3B8"/>
                </a:solidFill>
                <a:latin typeface="Inter"/>
              </a:rPr>
              <a:t>• Tìm kiếm sản phẩm theo từ khóa tên giày, thương hiệu.</a:t>
            </a:r>
          </a:p>
        </p:txBody>
      </p:sp>
      <p:sp>
        <p:nvSpPr>
          <p:cNvPr id="8" name="TextBox 7"/>
          <p:cNvSpPr txBox="1"/>
          <p:nvPr/>
        </p:nvSpPr>
        <p:spPr>
          <a:xfrm>
            <a:off x="876300" y="4242345"/>
            <a:ext cx="4733925" cy="228600"/>
          </a:xfrm>
          <a:prstGeom prst="rect">
            <a:avLst/>
          </a:prstGeom>
          <a:noFill/>
        </p:spPr>
        <p:txBody>
          <a:bodyPr wrap="square" lIns="0" rIns="0" tIns="0" bIns="0" anchor="t">
            <a:spAutoFit/>
          </a:bodyPr>
          <a:lstStyle/>
          <a:p>
            <a:pPr algn="l">
              <a:lnSpc>
                <a:spcPts val="1800"/>
              </a:lnSpc>
            </a:pPr>
            <a:r>
              <a:rPr b="0" sz="1200" i="0" u="none">
                <a:solidFill>
                  <a:srgbClr val="94A3B8"/>
                </a:solidFill>
                <a:latin typeface="Inter"/>
              </a:rPr>
              <a:t>• Xem chi tiết giày: Chất liệu, màu sắc, hướng dẫn đo size chân.</a:t>
            </a:r>
          </a:p>
        </p:txBody>
      </p:sp>
      <p:sp>
        <p:nvSpPr>
          <p:cNvPr id="9" name="TextBox 8"/>
          <p:cNvSpPr txBox="1"/>
          <p:nvPr/>
        </p:nvSpPr>
        <p:spPr>
          <a:xfrm>
            <a:off x="6581775" y="2899320"/>
            <a:ext cx="4970621" cy="314325"/>
          </a:xfrm>
          <a:prstGeom prst="rect">
            <a:avLst/>
          </a:prstGeom>
          <a:noFill/>
        </p:spPr>
        <p:txBody>
          <a:bodyPr wrap="square" lIns="333375" rIns="0" tIns="0" bIns="0" anchor="t">
            <a:spAutoFit/>
          </a:bodyPr>
          <a:lstStyle/>
          <a:p>
            <a:pPr algn="l"/>
            <a:r>
              <a:rPr b="0" sz="1650" i="0" u="none">
                <a:solidFill>
                  <a:srgbClr val="38BDF8"/>
                </a:solidFill>
                <a:latin typeface="Poppins SemiBold"/>
              </a:rPr>
              <a:t>Giỏ Hàng &amp; Đặt Hàng</a:t>
            </a:r>
          </a:p>
        </p:txBody>
      </p:sp>
      <p:sp>
        <p:nvSpPr>
          <p:cNvPr id="10" name="TextBox 9"/>
          <p:cNvSpPr txBox="1"/>
          <p:nvPr/>
        </p:nvSpPr>
        <p:spPr>
          <a:xfrm>
            <a:off x="6581775" y="3327945"/>
            <a:ext cx="4733925" cy="228600"/>
          </a:xfrm>
          <a:prstGeom prst="rect">
            <a:avLst/>
          </a:prstGeom>
          <a:noFill/>
        </p:spPr>
        <p:txBody>
          <a:bodyPr wrap="square" lIns="0" rIns="0" tIns="0" bIns="0" anchor="t">
            <a:spAutoFit/>
          </a:bodyPr>
          <a:lstStyle/>
          <a:p>
            <a:pPr algn="l">
              <a:lnSpc>
                <a:spcPts val="1800"/>
              </a:lnSpc>
            </a:pPr>
            <a:r>
              <a:rPr b="0" sz="1200" i="0" u="none">
                <a:solidFill>
                  <a:srgbClr val="94A3B8"/>
                </a:solidFill>
                <a:latin typeface="Inter"/>
              </a:rPr>
              <a:t>• Thêm giày vào giỏ hàng, cập nhật số lượng và thay đổi size.</a:t>
            </a:r>
          </a:p>
        </p:txBody>
      </p:sp>
      <p:sp>
        <p:nvSpPr>
          <p:cNvPr id="11" name="TextBox 10"/>
          <p:cNvSpPr txBox="1"/>
          <p:nvPr/>
        </p:nvSpPr>
        <p:spPr>
          <a:xfrm>
            <a:off x="6581775" y="3670845"/>
            <a:ext cx="4733925" cy="228600"/>
          </a:xfrm>
          <a:prstGeom prst="rect">
            <a:avLst/>
          </a:prstGeom>
          <a:noFill/>
        </p:spPr>
        <p:txBody>
          <a:bodyPr wrap="square" lIns="0" rIns="0" tIns="0" bIns="0" anchor="t">
            <a:spAutoFit/>
          </a:bodyPr>
          <a:lstStyle/>
          <a:p>
            <a:pPr algn="l">
              <a:lnSpc>
                <a:spcPts val="1800"/>
              </a:lnSpc>
            </a:pPr>
            <a:r>
              <a:rPr b="0" sz="1200" i="0" u="none">
                <a:solidFill>
                  <a:srgbClr val="94A3B8"/>
                </a:solidFill>
                <a:latin typeface="Inter"/>
              </a:rPr>
              <a:t>• Nhập thông tin người nhận và thực hiện thanh toán/đặt hàng.</a:t>
            </a:r>
          </a:p>
        </p:txBody>
      </p:sp>
      <p:sp>
        <p:nvSpPr>
          <p:cNvPr id="12" name="TextBox 11"/>
          <p:cNvSpPr txBox="1"/>
          <p:nvPr/>
        </p:nvSpPr>
        <p:spPr>
          <a:xfrm>
            <a:off x="6581775" y="4013745"/>
            <a:ext cx="4733925" cy="228600"/>
          </a:xfrm>
          <a:prstGeom prst="rect">
            <a:avLst/>
          </a:prstGeom>
          <a:noFill/>
        </p:spPr>
        <p:txBody>
          <a:bodyPr wrap="square" lIns="0" rIns="0" tIns="0" bIns="0" anchor="t">
            <a:spAutoFit/>
          </a:bodyPr>
          <a:lstStyle/>
          <a:p>
            <a:pPr algn="l">
              <a:lnSpc>
                <a:spcPts val="1800"/>
              </a:lnSpc>
            </a:pPr>
            <a:r>
              <a:rPr b="0" sz="1200" i="0" u="none">
                <a:solidFill>
                  <a:srgbClr val="94A3B8"/>
                </a:solidFill>
                <a:latin typeface="Inter"/>
              </a:rPr>
              <a:t>• Đăng ký/Đăng nhập tài khoản và theo dõi lịch sử đơn mua.</a:t>
            </a:r>
          </a:p>
        </p:txBody>
      </p:sp>
      <p:pic>
        <p:nvPicPr>
          <p:cNvPr id="13" name="Picture 12" descr="image.png"/>
          <p:cNvPicPr>
            <a:picLocks noChangeAspect="1"/>
          </p:cNvPicPr>
          <p:nvPr/>
        </p:nvPicPr>
        <p:blipFill>
          <a:blip r:embed="rId5"/>
          <a:stretch>
            <a:fillRect/>
          </a:stretch>
        </p:blipFill>
        <p:spPr>
          <a:xfrm>
            <a:off x="876300" y="2946945"/>
            <a:ext cx="209550" cy="209550"/>
          </a:xfrm>
          <a:prstGeom prst="rect">
            <a:avLst/>
          </a:prstGeom>
        </p:spPr>
      </p:pic>
      <p:pic>
        <p:nvPicPr>
          <p:cNvPr id="14" name="Picture 13" descr="image.png"/>
          <p:cNvPicPr>
            <a:picLocks noChangeAspect="1"/>
          </p:cNvPicPr>
          <p:nvPr/>
        </p:nvPicPr>
        <p:blipFill>
          <a:blip r:embed="rId6"/>
          <a:stretch>
            <a:fillRect/>
          </a:stretch>
        </p:blipFill>
        <p:spPr>
          <a:xfrm>
            <a:off x="6581775" y="2946945"/>
            <a:ext cx="238125" cy="209550"/>
          </a:xfrm>
          <a:prstGeom prst="rect">
            <a:avLst/>
          </a:prstGeom>
        </p:spPr>
      </p:pic>
      <p:sp>
        <p:nvSpPr>
          <p:cNvPr id="15" name="TextBox 14"/>
          <p:cNvSpPr txBox="1"/>
          <p:nvPr/>
        </p:nvSpPr>
        <p:spPr>
          <a:xfrm>
            <a:off x="723900" y="485775"/>
            <a:ext cx="11431428" cy="388590"/>
          </a:xfrm>
          <a:prstGeom prst="rect">
            <a:avLst/>
          </a:prstGeom>
          <a:noFill/>
        </p:spPr>
        <p:txBody>
          <a:bodyPr wrap="square" lIns="0" rIns="0" tIns="0" bIns="0" anchor="t">
            <a:spAutoFit/>
          </a:bodyPr>
          <a:lstStyle/>
          <a:p>
            <a:pPr algn="l">
              <a:lnSpc>
                <a:spcPts val="3060"/>
              </a:lnSpc>
            </a:pPr>
            <a:r>
              <a:rPr b="0" sz="2550" i="0" u="none">
                <a:solidFill>
                  <a:srgbClr val="F8FAFC"/>
                </a:solidFill>
                <a:latin typeface="Poppins SemiBold"/>
              </a:rPr>
              <a:t>Phân Hệ </a:t>
            </a:r>
            <a:r>
              <a:rPr b="0" sz="2550" i="0" u="none">
                <a:solidFill>
                  <a:srgbClr val="38BDF8"/>
                </a:solidFill>
                <a:latin typeface="Poppins SemiBold"/>
              </a:rPr>
              <a:t>Khách Hàng (Customer)</a:t>
            </a:r>
          </a:p>
        </p:txBody>
      </p:sp>
      <p:sp>
        <p:nvSpPr>
          <p:cNvPr id="16" name="Rectangle 15"/>
          <p:cNvSpPr/>
          <p:nvPr/>
        </p:nvSpPr>
        <p:spPr>
          <a:xfrm>
            <a:off x="581025" y="485775"/>
            <a:ext cx="47625" cy="38859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914400" y="2942183"/>
            <a:ext cx="10696575" cy="228600"/>
          </a:xfrm>
          <a:prstGeom prst="rect">
            <a:avLst/>
          </a:prstGeom>
          <a:noFill/>
        </p:spPr>
        <p:txBody>
          <a:bodyPr wrap="square" lIns="0" rIns="0" tIns="0" bIns="0" anchor="t">
            <a:spAutoFit/>
          </a:bodyPr>
          <a:lstStyle/>
          <a:p>
            <a:pPr algn="l">
              <a:lnSpc>
                <a:spcPts val="1800"/>
              </a:lnSpc>
            </a:pPr>
            <a:r>
              <a:rPr b="1" sz="1200" i="0" u="none">
                <a:solidFill>
                  <a:srgbClr val="F8FAFC"/>
                </a:solidFill>
                <a:latin typeface="Inter"/>
              </a:rPr>
              <a:t>Quản lý sản phẩm &amp; Danh mục:</a:t>
            </a:r>
            <a:r>
              <a:rPr b="0" sz="1200" i="0" u="none">
                <a:solidFill>
                  <a:srgbClr val="CBD5E1"/>
                </a:solidFill>
                <a:latin typeface="Inter"/>
              </a:rPr>
              <a:t> Thêm mới, cập nhật, xóa thông tin giày dép, hình ảnh, loại giày, hãng sản xuất và số lượng tồn kho.</a:t>
            </a:r>
          </a:p>
        </p:txBody>
      </p:sp>
      <p:sp>
        <p:nvSpPr>
          <p:cNvPr id="4" name="TextBox 3"/>
          <p:cNvSpPr txBox="1"/>
          <p:nvPr/>
        </p:nvSpPr>
        <p:spPr>
          <a:xfrm>
            <a:off x="914400" y="3342233"/>
            <a:ext cx="10696575" cy="228600"/>
          </a:xfrm>
          <a:prstGeom prst="rect">
            <a:avLst/>
          </a:prstGeom>
          <a:noFill/>
        </p:spPr>
        <p:txBody>
          <a:bodyPr wrap="square" lIns="0" rIns="0" tIns="0" bIns="0" anchor="t">
            <a:spAutoFit/>
          </a:bodyPr>
          <a:lstStyle/>
          <a:p>
            <a:pPr algn="l">
              <a:lnSpc>
                <a:spcPts val="1800"/>
              </a:lnSpc>
            </a:pPr>
            <a:r>
              <a:rPr b="1" sz="1200" i="0" u="none">
                <a:solidFill>
                  <a:srgbClr val="F8FAFC"/>
                </a:solidFill>
                <a:latin typeface="Inter"/>
              </a:rPr>
              <a:t>Quản lý đơn hàng:</a:t>
            </a:r>
            <a:r>
              <a:rPr b="0" sz="1200" i="0" u="none">
                <a:solidFill>
                  <a:srgbClr val="CBD5E1"/>
                </a:solidFill>
                <a:latin typeface="Inter"/>
              </a:rPr>
              <a:t> Tiếp nhận đơn đặt hàng từ khách, cập nhật trạng thái đơn (Chờ xử lý, Đang giao, Đã hoàn thành, Hủy đơn).</a:t>
            </a:r>
          </a:p>
        </p:txBody>
      </p:sp>
      <p:sp>
        <p:nvSpPr>
          <p:cNvPr id="5" name="TextBox 4"/>
          <p:cNvSpPr txBox="1"/>
          <p:nvPr/>
        </p:nvSpPr>
        <p:spPr>
          <a:xfrm>
            <a:off x="914400" y="3742283"/>
            <a:ext cx="10696575" cy="228600"/>
          </a:xfrm>
          <a:prstGeom prst="rect">
            <a:avLst/>
          </a:prstGeom>
          <a:noFill/>
        </p:spPr>
        <p:txBody>
          <a:bodyPr wrap="square" lIns="0" rIns="0" tIns="0" bIns="0" anchor="t">
            <a:spAutoFit/>
          </a:bodyPr>
          <a:lstStyle/>
          <a:p>
            <a:pPr algn="l">
              <a:lnSpc>
                <a:spcPts val="1800"/>
              </a:lnSpc>
            </a:pPr>
            <a:r>
              <a:rPr b="1" sz="1200" i="0" u="none">
                <a:solidFill>
                  <a:srgbClr val="F8FAFC"/>
                </a:solidFill>
                <a:latin typeface="Inter"/>
              </a:rPr>
              <a:t>Quản lý người dùng:</a:t>
            </a:r>
            <a:r>
              <a:rPr b="0" sz="1200" i="0" u="none">
                <a:solidFill>
                  <a:srgbClr val="CBD5E1"/>
                </a:solidFill>
                <a:latin typeface="Inter"/>
              </a:rPr>
              <a:t> Quản lý danh sách tài khoản khách hàng, phân quyền tài khoản quản trị và nhân viên.</a:t>
            </a:r>
          </a:p>
        </p:txBody>
      </p:sp>
      <p:sp>
        <p:nvSpPr>
          <p:cNvPr id="6" name="TextBox 5"/>
          <p:cNvSpPr txBox="1"/>
          <p:nvPr/>
        </p:nvSpPr>
        <p:spPr>
          <a:xfrm>
            <a:off x="914400" y="4142333"/>
            <a:ext cx="10696575" cy="228600"/>
          </a:xfrm>
          <a:prstGeom prst="rect">
            <a:avLst/>
          </a:prstGeom>
          <a:noFill/>
        </p:spPr>
        <p:txBody>
          <a:bodyPr wrap="square" lIns="0" rIns="0" tIns="0" bIns="0" anchor="t">
            <a:spAutoFit/>
          </a:bodyPr>
          <a:lstStyle/>
          <a:p>
            <a:pPr algn="l">
              <a:lnSpc>
                <a:spcPts val="1800"/>
              </a:lnSpc>
            </a:pPr>
            <a:r>
              <a:rPr b="1" sz="1200" i="0" u="none">
                <a:solidFill>
                  <a:srgbClr val="F8FAFC"/>
                </a:solidFill>
                <a:latin typeface="Inter"/>
              </a:rPr>
              <a:t>Báo cáo thống kê:</a:t>
            </a:r>
            <a:r>
              <a:rPr b="0" sz="1200" i="0" u="none">
                <a:solidFill>
                  <a:srgbClr val="CBD5E1"/>
                </a:solidFill>
                <a:latin typeface="Inter"/>
              </a:rPr>
              <a:t> Thống kê báo cáo số lượng đơn hàng, tổng doanh thu kinh doanh và top mẫu giày bán chạy nhất.</a:t>
            </a:r>
          </a:p>
        </p:txBody>
      </p:sp>
      <p:pic>
        <p:nvPicPr>
          <p:cNvPr id="7" name="Picture 6" descr="image.png"/>
          <p:cNvPicPr>
            <a:picLocks noChangeAspect="1"/>
          </p:cNvPicPr>
          <p:nvPr/>
        </p:nvPicPr>
        <p:blipFill>
          <a:blip r:embed="rId3"/>
          <a:stretch>
            <a:fillRect/>
          </a:stretch>
        </p:blipFill>
        <p:spPr>
          <a:xfrm>
            <a:off x="581025" y="2965995"/>
            <a:ext cx="238125" cy="200025"/>
          </a:xfrm>
          <a:prstGeom prst="rect">
            <a:avLst/>
          </a:prstGeom>
        </p:spPr>
      </p:pic>
      <p:pic>
        <p:nvPicPr>
          <p:cNvPr id="8" name="Picture 7" descr="image.png"/>
          <p:cNvPicPr>
            <a:picLocks noChangeAspect="1"/>
          </p:cNvPicPr>
          <p:nvPr/>
        </p:nvPicPr>
        <p:blipFill>
          <a:blip r:embed="rId4"/>
          <a:stretch>
            <a:fillRect/>
          </a:stretch>
        </p:blipFill>
        <p:spPr>
          <a:xfrm>
            <a:off x="581025" y="3366045"/>
            <a:ext cx="142875" cy="200025"/>
          </a:xfrm>
          <a:prstGeom prst="rect">
            <a:avLst/>
          </a:prstGeom>
        </p:spPr>
      </p:pic>
      <p:pic>
        <p:nvPicPr>
          <p:cNvPr id="9" name="Picture 8" descr="image.png"/>
          <p:cNvPicPr>
            <a:picLocks noChangeAspect="1"/>
          </p:cNvPicPr>
          <p:nvPr/>
        </p:nvPicPr>
        <p:blipFill>
          <a:blip r:embed="rId5"/>
          <a:stretch>
            <a:fillRect/>
          </a:stretch>
        </p:blipFill>
        <p:spPr>
          <a:xfrm>
            <a:off x="581025" y="3766095"/>
            <a:ext cx="238125" cy="200025"/>
          </a:xfrm>
          <a:prstGeom prst="rect">
            <a:avLst/>
          </a:prstGeom>
        </p:spPr>
      </p:pic>
      <p:pic>
        <p:nvPicPr>
          <p:cNvPr id="10" name="Picture 9" descr="image.png"/>
          <p:cNvPicPr>
            <a:picLocks noChangeAspect="1"/>
          </p:cNvPicPr>
          <p:nvPr/>
        </p:nvPicPr>
        <p:blipFill>
          <a:blip r:embed="rId6"/>
          <a:stretch>
            <a:fillRect/>
          </a:stretch>
        </p:blipFill>
        <p:spPr>
          <a:xfrm>
            <a:off x="581025" y="4166145"/>
            <a:ext cx="219075" cy="200025"/>
          </a:xfrm>
          <a:prstGeom prst="rect">
            <a:avLst/>
          </a:prstGeom>
        </p:spPr>
      </p:pic>
      <p:sp>
        <p:nvSpPr>
          <p:cNvPr id="11" name="TextBox 10"/>
          <p:cNvSpPr txBox="1"/>
          <p:nvPr/>
        </p:nvSpPr>
        <p:spPr>
          <a:xfrm>
            <a:off x="723900" y="485775"/>
            <a:ext cx="11431428" cy="388590"/>
          </a:xfrm>
          <a:prstGeom prst="rect">
            <a:avLst/>
          </a:prstGeom>
          <a:noFill/>
        </p:spPr>
        <p:txBody>
          <a:bodyPr wrap="square" lIns="0" rIns="0" tIns="0" bIns="0" anchor="t">
            <a:spAutoFit/>
          </a:bodyPr>
          <a:lstStyle/>
          <a:p>
            <a:pPr algn="l">
              <a:lnSpc>
                <a:spcPts val="3060"/>
              </a:lnSpc>
            </a:pPr>
            <a:r>
              <a:rPr b="0" sz="2550" i="0" u="none">
                <a:solidFill>
                  <a:srgbClr val="F8FAFC"/>
                </a:solidFill>
                <a:latin typeface="Poppins SemiBold"/>
              </a:rPr>
              <a:t>Phân Hệ </a:t>
            </a:r>
            <a:r>
              <a:rPr b="0" sz="2550" i="0" u="none">
                <a:solidFill>
                  <a:srgbClr val="38BDF8"/>
                </a:solidFill>
                <a:latin typeface="Poppins SemiBold"/>
              </a:rPr>
              <a:t>Quản Trị (Admin System)</a:t>
            </a:r>
          </a:p>
        </p:txBody>
      </p:sp>
      <p:sp>
        <p:nvSpPr>
          <p:cNvPr id="12" name="Rectangle 11"/>
          <p:cNvSpPr/>
          <p:nvPr/>
        </p:nvSpPr>
        <p:spPr>
          <a:xfrm>
            <a:off x="581025" y="485775"/>
            <a:ext cx="47625" cy="38859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1537096" y="3156495"/>
            <a:ext cx="514350" cy="514350"/>
          </a:xfrm>
          <a:prstGeom prst="rect">
            <a:avLst/>
          </a:prstGeom>
        </p:spPr>
      </p:pic>
      <p:pic>
        <p:nvPicPr>
          <p:cNvPr id="4" name="Picture 3" descr="image.png"/>
          <p:cNvPicPr>
            <a:picLocks noChangeAspect="1"/>
          </p:cNvPicPr>
          <p:nvPr/>
        </p:nvPicPr>
        <p:blipFill>
          <a:blip r:embed="rId4"/>
          <a:stretch>
            <a:fillRect/>
          </a:stretch>
        </p:blipFill>
        <p:spPr>
          <a:xfrm>
            <a:off x="4404866" y="3156495"/>
            <a:ext cx="514350" cy="514350"/>
          </a:xfrm>
          <a:prstGeom prst="rect">
            <a:avLst/>
          </a:prstGeom>
        </p:spPr>
      </p:pic>
      <p:pic>
        <p:nvPicPr>
          <p:cNvPr id="5" name="Picture 4" descr="image.png"/>
          <p:cNvPicPr>
            <a:picLocks noChangeAspect="1"/>
          </p:cNvPicPr>
          <p:nvPr/>
        </p:nvPicPr>
        <p:blipFill>
          <a:blip r:embed="rId5"/>
          <a:stretch>
            <a:fillRect/>
          </a:stretch>
        </p:blipFill>
        <p:spPr>
          <a:xfrm>
            <a:off x="7272635" y="3156495"/>
            <a:ext cx="514350" cy="514350"/>
          </a:xfrm>
          <a:prstGeom prst="rect">
            <a:avLst/>
          </a:prstGeom>
        </p:spPr>
      </p:pic>
      <p:pic>
        <p:nvPicPr>
          <p:cNvPr id="6" name="Picture 5" descr="image.png"/>
          <p:cNvPicPr>
            <a:picLocks noChangeAspect="1"/>
          </p:cNvPicPr>
          <p:nvPr/>
        </p:nvPicPr>
        <p:blipFill>
          <a:blip r:embed="rId6"/>
          <a:stretch>
            <a:fillRect/>
          </a:stretch>
        </p:blipFill>
        <p:spPr>
          <a:xfrm>
            <a:off x="10140404" y="3156495"/>
            <a:ext cx="514350" cy="514350"/>
          </a:xfrm>
          <a:prstGeom prst="rect">
            <a:avLst/>
          </a:prstGeom>
        </p:spPr>
      </p:pic>
      <p:sp>
        <p:nvSpPr>
          <p:cNvPr id="7" name="Rectangle 6"/>
          <p:cNvSpPr/>
          <p:nvPr/>
        </p:nvSpPr>
        <p:spPr>
          <a:xfrm>
            <a:off x="1132427" y="3913733"/>
            <a:ext cx="9927145" cy="38100"/>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20362" y="3861345"/>
            <a:ext cx="2547818" cy="257175"/>
          </a:xfrm>
          <a:prstGeom prst="rect">
            <a:avLst/>
          </a:prstGeom>
          <a:noFill/>
        </p:spPr>
        <p:txBody>
          <a:bodyPr wrap="square" lIns="0" rIns="0" tIns="0" bIns="0" anchor="t">
            <a:spAutoFit/>
          </a:bodyPr>
          <a:lstStyle/>
          <a:p>
            <a:pPr algn="ctr"/>
            <a:r>
              <a:rPr b="0" sz="1350" i="0" u="none">
                <a:solidFill>
                  <a:srgbClr val="38BDF8"/>
                </a:solidFill>
                <a:latin typeface="Poppins SemiBold"/>
              </a:rPr>
              <a:t>Chọn Mẫu &amp; Size</a:t>
            </a:r>
          </a:p>
        </p:txBody>
      </p:sp>
      <p:sp>
        <p:nvSpPr>
          <p:cNvPr id="9" name="TextBox 8"/>
          <p:cNvSpPr txBox="1"/>
          <p:nvPr/>
        </p:nvSpPr>
        <p:spPr>
          <a:xfrm>
            <a:off x="581025" y="4194720"/>
            <a:ext cx="2426493" cy="400050"/>
          </a:xfrm>
          <a:prstGeom prst="rect">
            <a:avLst/>
          </a:prstGeom>
          <a:noFill/>
        </p:spPr>
        <p:txBody>
          <a:bodyPr wrap="square" lIns="0" rIns="0" tIns="0" bIns="0" anchor="t">
            <a:spAutoFit/>
          </a:bodyPr>
          <a:lstStyle/>
          <a:p>
            <a:pPr algn="ctr">
              <a:lnSpc>
                <a:spcPts val="1575"/>
              </a:lnSpc>
            </a:pPr>
            <a:r>
              <a:rPr b="0" sz="1050" i="0" u="none">
                <a:solidFill>
                  <a:srgbClr val="94A3B8"/>
                </a:solidFill>
                <a:latin typeface="Inter"/>
              </a:rPr>
              <a:t>Khách chọn kiểu giày, chọn kích cỡ (Size) phù hợp và thêm vào giỏ.</a:t>
            </a:r>
          </a:p>
        </p:txBody>
      </p:sp>
      <p:sp>
        <p:nvSpPr>
          <p:cNvPr id="10" name="TextBox 9"/>
          <p:cNvSpPr txBox="1"/>
          <p:nvPr/>
        </p:nvSpPr>
        <p:spPr>
          <a:xfrm>
            <a:off x="3388131" y="3861345"/>
            <a:ext cx="2547818" cy="257175"/>
          </a:xfrm>
          <a:prstGeom prst="rect">
            <a:avLst/>
          </a:prstGeom>
          <a:noFill/>
        </p:spPr>
        <p:txBody>
          <a:bodyPr wrap="square" lIns="0" rIns="0" tIns="0" bIns="0" anchor="t">
            <a:spAutoFit/>
          </a:bodyPr>
          <a:lstStyle/>
          <a:p>
            <a:pPr algn="ctr"/>
            <a:r>
              <a:rPr b="0" sz="1350" i="0" u="none">
                <a:solidFill>
                  <a:srgbClr val="38BDF8"/>
                </a:solidFill>
                <a:latin typeface="Poppins SemiBold"/>
              </a:rPr>
              <a:t>Xác Nhận Đơn</a:t>
            </a:r>
          </a:p>
        </p:txBody>
      </p:sp>
      <p:sp>
        <p:nvSpPr>
          <p:cNvPr id="11" name="TextBox 10"/>
          <p:cNvSpPr txBox="1"/>
          <p:nvPr/>
        </p:nvSpPr>
        <p:spPr>
          <a:xfrm>
            <a:off x="3448794" y="4194720"/>
            <a:ext cx="2426493" cy="400050"/>
          </a:xfrm>
          <a:prstGeom prst="rect">
            <a:avLst/>
          </a:prstGeom>
          <a:noFill/>
        </p:spPr>
        <p:txBody>
          <a:bodyPr wrap="square" lIns="0" rIns="0" tIns="0" bIns="0" anchor="t">
            <a:spAutoFit/>
          </a:bodyPr>
          <a:lstStyle/>
          <a:p>
            <a:pPr algn="ctr">
              <a:lnSpc>
                <a:spcPts val="1575"/>
              </a:lnSpc>
            </a:pPr>
            <a:r>
              <a:rPr b="0" sz="1050" i="0" u="none">
                <a:solidFill>
                  <a:srgbClr val="94A3B8"/>
                </a:solidFill>
                <a:latin typeface="Inter"/>
              </a:rPr>
              <a:t>Khách điền thông tin địa chỉ giao hàng, số điện thoại và gửi đơn.</a:t>
            </a:r>
          </a:p>
        </p:txBody>
      </p:sp>
      <p:sp>
        <p:nvSpPr>
          <p:cNvPr id="12" name="TextBox 11"/>
          <p:cNvSpPr txBox="1"/>
          <p:nvPr/>
        </p:nvSpPr>
        <p:spPr>
          <a:xfrm>
            <a:off x="6255900" y="3861345"/>
            <a:ext cx="2547818" cy="257175"/>
          </a:xfrm>
          <a:prstGeom prst="rect">
            <a:avLst/>
          </a:prstGeom>
          <a:noFill/>
        </p:spPr>
        <p:txBody>
          <a:bodyPr wrap="square" lIns="0" rIns="0" tIns="0" bIns="0" anchor="t">
            <a:spAutoFit/>
          </a:bodyPr>
          <a:lstStyle/>
          <a:p>
            <a:pPr algn="ctr"/>
            <a:r>
              <a:rPr b="0" sz="1350" i="0" u="none">
                <a:solidFill>
                  <a:srgbClr val="38BDF8"/>
                </a:solidFill>
                <a:latin typeface="Poppins SemiBold"/>
              </a:rPr>
              <a:t>Admin Duyệt Đơn</a:t>
            </a:r>
          </a:p>
        </p:txBody>
      </p:sp>
      <p:sp>
        <p:nvSpPr>
          <p:cNvPr id="13" name="TextBox 12"/>
          <p:cNvSpPr txBox="1"/>
          <p:nvPr/>
        </p:nvSpPr>
        <p:spPr>
          <a:xfrm>
            <a:off x="6316563" y="4194720"/>
            <a:ext cx="2426493" cy="400050"/>
          </a:xfrm>
          <a:prstGeom prst="rect">
            <a:avLst/>
          </a:prstGeom>
          <a:noFill/>
        </p:spPr>
        <p:txBody>
          <a:bodyPr wrap="square" lIns="0" rIns="0" tIns="0" bIns="0" anchor="t">
            <a:spAutoFit/>
          </a:bodyPr>
          <a:lstStyle/>
          <a:p>
            <a:pPr algn="ctr">
              <a:lnSpc>
                <a:spcPts val="1575"/>
              </a:lnSpc>
            </a:pPr>
            <a:r>
              <a:rPr b="0" sz="1050" i="0" u="none">
                <a:solidFill>
                  <a:srgbClr val="94A3B8"/>
                </a:solidFill>
                <a:latin typeface="Inter"/>
              </a:rPr>
              <a:t>Hệ thống lưu đơn vào SQL Server, Admin kiểm tra kho và xác nhận đơn.</a:t>
            </a:r>
          </a:p>
        </p:txBody>
      </p:sp>
      <p:sp>
        <p:nvSpPr>
          <p:cNvPr id="14" name="TextBox 13"/>
          <p:cNvSpPr txBox="1"/>
          <p:nvPr/>
        </p:nvSpPr>
        <p:spPr>
          <a:xfrm>
            <a:off x="9123670" y="3861345"/>
            <a:ext cx="2547818" cy="257175"/>
          </a:xfrm>
          <a:prstGeom prst="rect">
            <a:avLst/>
          </a:prstGeom>
          <a:noFill/>
        </p:spPr>
        <p:txBody>
          <a:bodyPr wrap="square" lIns="0" rIns="0" tIns="0" bIns="0" anchor="t">
            <a:spAutoFit/>
          </a:bodyPr>
          <a:lstStyle/>
          <a:p>
            <a:pPr algn="ctr"/>
            <a:r>
              <a:rPr b="0" sz="1350" i="0" u="none">
                <a:solidFill>
                  <a:srgbClr val="38BDF8"/>
                </a:solidFill>
                <a:latin typeface="Poppins SemiBold"/>
              </a:rPr>
              <a:t>Giao Hàng</a:t>
            </a:r>
          </a:p>
        </p:txBody>
      </p:sp>
      <p:sp>
        <p:nvSpPr>
          <p:cNvPr id="15" name="TextBox 14"/>
          <p:cNvSpPr txBox="1"/>
          <p:nvPr/>
        </p:nvSpPr>
        <p:spPr>
          <a:xfrm>
            <a:off x="9184332" y="4194720"/>
            <a:ext cx="2426493" cy="400050"/>
          </a:xfrm>
          <a:prstGeom prst="rect">
            <a:avLst/>
          </a:prstGeom>
          <a:noFill/>
        </p:spPr>
        <p:txBody>
          <a:bodyPr wrap="square" lIns="0" rIns="0" tIns="0" bIns="0" anchor="t">
            <a:spAutoFit/>
          </a:bodyPr>
          <a:lstStyle/>
          <a:p>
            <a:pPr algn="ctr">
              <a:lnSpc>
                <a:spcPts val="1575"/>
              </a:lnSpc>
            </a:pPr>
            <a:r>
              <a:rPr b="0" sz="1050" i="0" u="none">
                <a:solidFill>
                  <a:srgbClr val="94A3B8"/>
                </a:solidFill>
                <a:latin typeface="Inter"/>
              </a:rPr>
              <a:t>Xuất kho, trừ số lượng tồn và cập nhật trạng thái đã giao thành công.</a:t>
            </a:r>
          </a:p>
        </p:txBody>
      </p:sp>
      <p:sp>
        <p:nvSpPr>
          <p:cNvPr id="16" name="TextBox 15"/>
          <p:cNvSpPr txBox="1"/>
          <p:nvPr/>
        </p:nvSpPr>
        <p:spPr>
          <a:xfrm>
            <a:off x="723900" y="485775"/>
            <a:ext cx="11431428" cy="388590"/>
          </a:xfrm>
          <a:prstGeom prst="rect">
            <a:avLst/>
          </a:prstGeom>
          <a:noFill/>
        </p:spPr>
        <p:txBody>
          <a:bodyPr wrap="square" lIns="0" rIns="0" tIns="0" bIns="0" anchor="t">
            <a:spAutoFit/>
          </a:bodyPr>
          <a:lstStyle/>
          <a:p>
            <a:pPr algn="l">
              <a:lnSpc>
                <a:spcPts val="3060"/>
              </a:lnSpc>
            </a:pPr>
            <a:r>
              <a:rPr b="0" sz="2550" i="0" u="none">
                <a:solidFill>
                  <a:srgbClr val="F8FAFC"/>
                </a:solidFill>
                <a:latin typeface="Poppins SemiBold"/>
              </a:rPr>
              <a:t>Quy Trình </a:t>
            </a:r>
            <a:r>
              <a:rPr b="0" sz="2550" i="0" u="none">
                <a:solidFill>
                  <a:srgbClr val="38BDF8"/>
                </a:solidFill>
                <a:latin typeface="Poppins SemiBold"/>
              </a:rPr>
              <a:t>Xử Lý Đặt Hàng</a:t>
            </a:r>
          </a:p>
        </p:txBody>
      </p:sp>
      <p:sp>
        <p:nvSpPr>
          <p:cNvPr id="17" name="Rectangle 16"/>
          <p:cNvSpPr/>
          <p:nvPr/>
        </p:nvSpPr>
        <p:spPr>
          <a:xfrm>
            <a:off x="581025" y="485775"/>
            <a:ext cx="47625" cy="38859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81025" y="2704058"/>
            <a:ext cx="5324475" cy="2076450"/>
          </a:xfrm>
          <a:prstGeom prst="rect">
            <a:avLst/>
          </a:prstGeom>
        </p:spPr>
      </p:pic>
      <p:sp>
        <p:nvSpPr>
          <p:cNvPr id="4" name="TextBox 3"/>
          <p:cNvSpPr txBox="1"/>
          <p:nvPr/>
        </p:nvSpPr>
        <p:spPr>
          <a:xfrm>
            <a:off x="781050" y="3094583"/>
            <a:ext cx="4924425" cy="952500"/>
          </a:xfrm>
          <a:prstGeom prst="rect">
            <a:avLst/>
          </a:prstGeom>
          <a:noFill/>
        </p:spPr>
        <p:txBody>
          <a:bodyPr wrap="square" lIns="0" rIns="0" tIns="0" bIns="0" anchor="t">
            <a:spAutoFit/>
          </a:bodyPr>
          <a:lstStyle/>
          <a:p>
            <a:pPr algn="ctr">
              <a:lnSpc>
                <a:spcPts val="7500"/>
              </a:lnSpc>
            </a:pPr>
            <a:r>
              <a:rPr b="1" sz="7500" i="0" u="none">
                <a:solidFill>
                  <a:srgbClr val="38BDF8"/>
                </a:solidFill>
                <a:latin typeface="Poppins"/>
              </a:rPr>
              <a:t>100%</a:t>
            </a:r>
          </a:p>
        </p:txBody>
      </p:sp>
      <p:sp>
        <p:nvSpPr>
          <p:cNvPr id="5" name="TextBox 4"/>
          <p:cNvSpPr txBox="1"/>
          <p:nvPr/>
        </p:nvSpPr>
        <p:spPr>
          <a:xfrm>
            <a:off x="781050" y="4142333"/>
            <a:ext cx="4924425" cy="247650"/>
          </a:xfrm>
          <a:prstGeom prst="rect">
            <a:avLst/>
          </a:prstGeom>
          <a:noFill/>
        </p:spPr>
        <p:txBody>
          <a:bodyPr wrap="square" lIns="0" rIns="0" tIns="0" bIns="0" anchor="t">
            <a:spAutoFit/>
          </a:bodyPr>
          <a:lstStyle/>
          <a:p>
            <a:pPr algn="ctr"/>
            <a:r>
              <a:rPr b="0" sz="1650" i="0" u="none">
                <a:solidFill>
                  <a:srgbClr val="F8FAFC"/>
                </a:solidFill>
                <a:latin typeface="Inter Medium"/>
              </a:rPr>
              <a:t>Hoàn Thành Chức Năng Yêu Cầu</a:t>
            </a:r>
          </a:p>
        </p:txBody>
      </p:sp>
      <p:sp>
        <p:nvSpPr>
          <p:cNvPr id="6" name="TextBox 5"/>
          <p:cNvSpPr txBox="1"/>
          <p:nvPr/>
        </p:nvSpPr>
        <p:spPr>
          <a:xfrm>
            <a:off x="6286500" y="2746920"/>
            <a:ext cx="5590698" cy="276225"/>
          </a:xfrm>
          <a:prstGeom prst="rect">
            <a:avLst/>
          </a:prstGeom>
          <a:noFill/>
        </p:spPr>
        <p:txBody>
          <a:bodyPr wrap="square" lIns="0" rIns="0" tIns="0" bIns="0" anchor="t">
            <a:spAutoFit/>
          </a:bodyPr>
          <a:lstStyle/>
          <a:p>
            <a:pPr algn="l"/>
            <a:r>
              <a:rPr b="0" sz="1404" i="0" u="none">
                <a:solidFill>
                  <a:srgbClr val="F8FAFC"/>
                </a:solidFill>
                <a:latin typeface="Poppins SemiBold"/>
              </a:rPr>
              <a:t>Các Chỉ Số Kỹ Thuật Đạt Được</a:t>
            </a:r>
          </a:p>
        </p:txBody>
      </p:sp>
      <p:sp>
        <p:nvSpPr>
          <p:cNvPr id="7" name="TextBox 6"/>
          <p:cNvSpPr txBox="1"/>
          <p:nvPr/>
        </p:nvSpPr>
        <p:spPr>
          <a:xfrm>
            <a:off x="6286500" y="3023145"/>
            <a:ext cx="5324475" cy="457200"/>
          </a:xfrm>
          <a:prstGeom prst="rect">
            <a:avLst/>
          </a:prstGeom>
          <a:noFill/>
        </p:spPr>
        <p:txBody>
          <a:bodyPr wrap="square" lIns="0" rIns="0" tIns="0" bIns="0" anchor="t">
            <a:spAutoFit/>
          </a:bodyPr>
          <a:lstStyle/>
          <a:p>
            <a:pPr algn="l">
              <a:lnSpc>
                <a:spcPts val="1800"/>
              </a:lnSpc>
            </a:pPr>
            <a:r>
              <a:rPr b="0" sz="1200" i="0" u="none">
                <a:solidFill>
                  <a:srgbClr val="94A3B8"/>
                </a:solidFill>
                <a:latin typeface="Inter"/>
              </a:rPr>
              <a:t>• </a:t>
            </a:r>
            <a:r>
              <a:rPr b="1" sz="1200" i="0" u="none">
                <a:solidFill>
                  <a:srgbClr val="94A3B8"/>
                </a:solidFill>
                <a:latin typeface="Inter"/>
              </a:rPr>
              <a:t>Độ ổn định hệ thống:</a:t>
            </a:r>
            <a:r>
              <a:rPr b="0" sz="1200" i="0" u="none">
                <a:solidFill>
                  <a:srgbClr val="94A3B8"/>
                </a:solidFill>
                <a:latin typeface="Inter"/>
              </a:rPr>
              <a:t> Đặt hàng và xử lý truy vấn dữ liệu SQL Server chính xác, không xảy ra lỗi trùng lặp đơn.</a:t>
            </a:r>
          </a:p>
        </p:txBody>
      </p:sp>
      <p:sp>
        <p:nvSpPr>
          <p:cNvPr id="8" name="TextBox 7"/>
          <p:cNvSpPr txBox="1"/>
          <p:nvPr/>
        </p:nvSpPr>
        <p:spPr>
          <a:xfrm>
            <a:off x="6286500" y="3594645"/>
            <a:ext cx="5324475" cy="457200"/>
          </a:xfrm>
          <a:prstGeom prst="rect">
            <a:avLst/>
          </a:prstGeom>
          <a:noFill/>
        </p:spPr>
        <p:txBody>
          <a:bodyPr wrap="square" lIns="0" rIns="0" tIns="0" bIns="0" anchor="t">
            <a:spAutoFit/>
          </a:bodyPr>
          <a:lstStyle/>
          <a:p>
            <a:pPr algn="l">
              <a:lnSpc>
                <a:spcPts val="1800"/>
              </a:lnSpc>
            </a:pPr>
            <a:r>
              <a:rPr b="0" sz="1200" i="0" u="none">
                <a:solidFill>
                  <a:srgbClr val="94A3B8"/>
                </a:solidFill>
                <a:latin typeface="Inter"/>
              </a:rPr>
              <a:t>• </a:t>
            </a:r>
            <a:r>
              <a:rPr b="1" sz="1200" i="0" u="none">
                <a:solidFill>
                  <a:srgbClr val="94A3B8"/>
                </a:solidFill>
                <a:latin typeface="Inter"/>
              </a:rPr>
              <a:t>Hiệu năng tải trang:</a:t>
            </a:r>
            <a:r>
              <a:rPr b="0" sz="1200" i="0" u="none">
                <a:solidFill>
                  <a:srgbClr val="94A3B8"/>
                </a:solidFill>
                <a:latin typeface="Inter"/>
              </a:rPr>
              <a:t> Tải trang nhanh nhờ tối ưu cấu trúc mã nguồn C# và câu lệnh truy vấn SQL.</a:t>
            </a:r>
          </a:p>
        </p:txBody>
      </p:sp>
      <p:sp>
        <p:nvSpPr>
          <p:cNvPr id="9" name="TextBox 8"/>
          <p:cNvSpPr txBox="1"/>
          <p:nvPr/>
        </p:nvSpPr>
        <p:spPr>
          <a:xfrm>
            <a:off x="6286500" y="4166145"/>
            <a:ext cx="5324475" cy="457200"/>
          </a:xfrm>
          <a:prstGeom prst="rect">
            <a:avLst/>
          </a:prstGeom>
          <a:noFill/>
        </p:spPr>
        <p:txBody>
          <a:bodyPr wrap="square" lIns="0" rIns="0" tIns="0" bIns="0" anchor="t">
            <a:spAutoFit/>
          </a:bodyPr>
          <a:lstStyle/>
          <a:p>
            <a:pPr algn="l">
              <a:lnSpc>
                <a:spcPts val="1800"/>
              </a:lnSpc>
            </a:pPr>
            <a:r>
              <a:rPr b="0" sz="1200" i="0" u="none">
                <a:solidFill>
                  <a:srgbClr val="94A3B8"/>
                </a:solidFill>
                <a:latin typeface="Inter"/>
              </a:rPr>
              <a:t>• </a:t>
            </a:r>
            <a:r>
              <a:rPr b="1" sz="1200" i="0" u="none">
                <a:solidFill>
                  <a:srgbClr val="94A3B8"/>
                </a:solidFill>
                <a:latin typeface="Inter"/>
              </a:rPr>
              <a:t>Bảo mật:</a:t>
            </a:r>
            <a:r>
              <a:rPr b="0" sz="1200" i="0" u="none">
                <a:solidFill>
                  <a:srgbClr val="94A3B8"/>
                </a:solidFill>
                <a:latin typeface="Inter"/>
              </a:rPr>
              <a:t> Kiểm soát chặt chẽ phiên đăng nhập Session, mã hóa dữ liệu tài khoản chống truy cập trái phép.</a:t>
            </a:r>
          </a:p>
        </p:txBody>
      </p:sp>
      <p:sp>
        <p:nvSpPr>
          <p:cNvPr id="10" name="TextBox 9"/>
          <p:cNvSpPr txBox="1"/>
          <p:nvPr/>
        </p:nvSpPr>
        <p:spPr>
          <a:xfrm>
            <a:off x="723900" y="485775"/>
            <a:ext cx="11431428" cy="388590"/>
          </a:xfrm>
          <a:prstGeom prst="rect">
            <a:avLst/>
          </a:prstGeom>
          <a:noFill/>
        </p:spPr>
        <p:txBody>
          <a:bodyPr wrap="square" lIns="0" rIns="0" tIns="0" bIns="0" anchor="t">
            <a:spAutoFit/>
          </a:bodyPr>
          <a:lstStyle/>
          <a:p>
            <a:pPr algn="l">
              <a:lnSpc>
                <a:spcPts val="3060"/>
              </a:lnSpc>
            </a:pPr>
            <a:r>
              <a:rPr b="0" sz="2550" i="0" u="none">
                <a:solidFill>
                  <a:srgbClr val="F8FAFC"/>
                </a:solidFill>
                <a:latin typeface="Poppins SemiBold"/>
              </a:rPr>
              <a:t>Kết Quả </a:t>
            </a:r>
            <a:r>
              <a:rPr b="0" sz="2550" i="0" u="none">
                <a:solidFill>
                  <a:srgbClr val="38BDF8"/>
                </a:solidFill>
                <a:latin typeface="Poppins SemiBold"/>
              </a:rPr>
              <a:t>Thử Nghiệm &amp; Đạt Được</a:t>
            </a:r>
          </a:p>
        </p:txBody>
      </p:sp>
      <p:sp>
        <p:nvSpPr>
          <p:cNvPr id="11" name="Rectangle 10"/>
          <p:cNvSpPr/>
          <p:nvPr/>
        </p:nvSpPr>
        <p:spPr>
          <a:xfrm>
            <a:off x="581025" y="485775"/>
            <a:ext cx="47625" cy="38859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81025" y="2375445"/>
            <a:ext cx="5324475" cy="2733675"/>
          </a:xfrm>
          <a:prstGeom prst="rect">
            <a:avLst/>
          </a:prstGeom>
        </p:spPr>
      </p:pic>
      <p:pic>
        <p:nvPicPr>
          <p:cNvPr id="4" name="Picture 3" descr="image.png"/>
          <p:cNvPicPr>
            <a:picLocks noChangeAspect="1"/>
          </p:cNvPicPr>
          <p:nvPr/>
        </p:nvPicPr>
        <p:blipFill>
          <a:blip r:embed="rId4"/>
          <a:stretch>
            <a:fillRect/>
          </a:stretch>
        </p:blipFill>
        <p:spPr>
          <a:xfrm>
            <a:off x="6286500" y="2375445"/>
            <a:ext cx="5324475" cy="2733675"/>
          </a:xfrm>
          <a:prstGeom prst="rect">
            <a:avLst/>
          </a:prstGeom>
        </p:spPr>
      </p:pic>
      <p:sp>
        <p:nvSpPr>
          <p:cNvPr id="5" name="TextBox 4"/>
          <p:cNvSpPr txBox="1"/>
          <p:nvPr/>
        </p:nvSpPr>
        <p:spPr>
          <a:xfrm>
            <a:off x="876300" y="2670720"/>
            <a:ext cx="4970621" cy="314325"/>
          </a:xfrm>
          <a:prstGeom prst="rect">
            <a:avLst/>
          </a:prstGeom>
          <a:noFill/>
        </p:spPr>
        <p:txBody>
          <a:bodyPr wrap="square" lIns="304800" rIns="0" tIns="0" bIns="0" anchor="t">
            <a:spAutoFit/>
          </a:bodyPr>
          <a:lstStyle/>
          <a:p>
            <a:pPr algn="l"/>
            <a:r>
              <a:rPr b="0" sz="1650" i="0" u="none">
                <a:solidFill>
                  <a:srgbClr val="38BDF8"/>
                </a:solidFill>
                <a:latin typeface="Poppins SemiBold"/>
              </a:rPr>
              <a:t>Ưu Điểm Của Đồ Án</a:t>
            </a:r>
          </a:p>
        </p:txBody>
      </p:sp>
      <p:sp>
        <p:nvSpPr>
          <p:cNvPr id="6" name="TextBox 5"/>
          <p:cNvSpPr txBox="1"/>
          <p:nvPr/>
        </p:nvSpPr>
        <p:spPr>
          <a:xfrm>
            <a:off x="876300" y="3099345"/>
            <a:ext cx="4733925" cy="228600"/>
          </a:xfrm>
          <a:prstGeom prst="rect">
            <a:avLst/>
          </a:prstGeom>
          <a:noFill/>
        </p:spPr>
        <p:txBody>
          <a:bodyPr wrap="square" lIns="0" rIns="0" tIns="0" bIns="0" anchor="t">
            <a:spAutoFit/>
          </a:bodyPr>
          <a:lstStyle/>
          <a:p>
            <a:pPr algn="l">
              <a:lnSpc>
                <a:spcPts val="1800"/>
              </a:lnSpc>
            </a:pPr>
            <a:r>
              <a:rPr b="0" sz="1200" i="0" u="none">
                <a:solidFill>
                  <a:srgbClr val="94A3B8"/>
                </a:solidFill>
                <a:latin typeface="Inter"/>
              </a:rPr>
              <a:t>• Giao diện đẹp mắt, chuẩn responsive cho cửa hàng giày dép.</a:t>
            </a:r>
          </a:p>
        </p:txBody>
      </p:sp>
      <p:sp>
        <p:nvSpPr>
          <p:cNvPr id="7" name="TextBox 6"/>
          <p:cNvSpPr txBox="1"/>
          <p:nvPr/>
        </p:nvSpPr>
        <p:spPr>
          <a:xfrm>
            <a:off x="876300" y="3442245"/>
            <a:ext cx="4733925" cy="457200"/>
          </a:xfrm>
          <a:prstGeom prst="rect">
            <a:avLst/>
          </a:prstGeom>
          <a:noFill/>
        </p:spPr>
        <p:txBody>
          <a:bodyPr wrap="square" lIns="0" rIns="0" tIns="0" bIns="0" anchor="t">
            <a:spAutoFit/>
          </a:bodyPr>
          <a:lstStyle/>
          <a:p>
            <a:pPr algn="l">
              <a:lnSpc>
                <a:spcPts val="1800"/>
              </a:lnSpc>
            </a:pPr>
            <a:r>
              <a:rPr b="0" sz="1200" i="0" u="none">
                <a:solidFill>
                  <a:srgbClr val="94A3B8"/>
                </a:solidFill>
                <a:latin typeface="Inter"/>
              </a:rPr>
              <a:t>• Hoàn thành đầy đủ các chức năng nghiệp vụ bán hàng &amp; quản trị.</a:t>
            </a:r>
          </a:p>
        </p:txBody>
      </p:sp>
      <p:sp>
        <p:nvSpPr>
          <p:cNvPr id="8" name="TextBox 7"/>
          <p:cNvSpPr txBox="1"/>
          <p:nvPr/>
        </p:nvSpPr>
        <p:spPr>
          <a:xfrm>
            <a:off x="876300" y="4013745"/>
            <a:ext cx="4733925" cy="457200"/>
          </a:xfrm>
          <a:prstGeom prst="rect">
            <a:avLst/>
          </a:prstGeom>
          <a:noFill/>
        </p:spPr>
        <p:txBody>
          <a:bodyPr wrap="square" lIns="0" rIns="0" tIns="0" bIns="0" anchor="t">
            <a:spAutoFit/>
          </a:bodyPr>
          <a:lstStyle/>
          <a:p>
            <a:pPr algn="l">
              <a:lnSpc>
                <a:spcPts val="1800"/>
              </a:lnSpc>
            </a:pPr>
            <a:r>
              <a:rPr b="0" sz="1200" i="0" u="none">
                <a:solidFill>
                  <a:srgbClr val="94A3B8"/>
                </a:solidFill>
                <a:latin typeface="Inter"/>
              </a:rPr>
              <a:t>• Mã nguồn ASP.NET (C#) được tổ chức mạch lạc, chuẩn mô hình MVC.</a:t>
            </a:r>
          </a:p>
        </p:txBody>
      </p:sp>
      <p:sp>
        <p:nvSpPr>
          <p:cNvPr id="9" name="TextBox 8"/>
          <p:cNvSpPr txBox="1"/>
          <p:nvPr/>
        </p:nvSpPr>
        <p:spPr>
          <a:xfrm>
            <a:off x="6581775" y="2670720"/>
            <a:ext cx="4970621" cy="314325"/>
          </a:xfrm>
          <a:prstGeom prst="rect">
            <a:avLst/>
          </a:prstGeom>
          <a:noFill/>
        </p:spPr>
        <p:txBody>
          <a:bodyPr wrap="square" lIns="304800" rIns="0" tIns="0" bIns="0" anchor="t">
            <a:spAutoFit/>
          </a:bodyPr>
          <a:lstStyle/>
          <a:p>
            <a:pPr algn="l"/>
            <a:r>
              <a:rPr b="0" sz="1650" i="0" u="none">
                <a:solidFill>
                  <a:srgbClr val="38BDF8"/>
                </a:solidFill>
                <a:latin typeface="Poppins SemiBold"/>
              </a:rPr>
              <a:t>Hướng Phát Triển Tiếp Theo</a:t>
            </a:r>
          </a:p>
        </p:txBody>
      </p:sp>
      <p:sp>
        <p:nvSpPr>
          <p:cNvPr id="10" name="TextBox 9"/>
          <p:cNvSpPr txBox="1"/>
          <p:nvPr/>
        </p:nvSpPr>
        <p:spPr>
          <a:xfrm>
            <a:off x="6581775" y="3099345"/>
            <a:ext cx="4733925" cy="457200"/>
          </a:xfrm>
          <a:prstGeom prst="rect">
            <a:avLst/>
          </a:prstGeom>
          <a:noFill/>
        </p:spPr>
        <p:txBody>
          <a:bodyPr wrap="square" lIns="0" rIns="0" tIns="0" bIns="0" anchor="t">
            <a:spAutoFit/>
          </a:bodyPr>
          <a:lstStyle/>
          <a:p>
            <a:pPr algn="l">
              <a:lnSpc>
                <a:spcPts val="1800"/>
              </a:lnSpc>
            </a:pPr>
            <a:r>
              <a:rPr b="0" sz="1200" i="0" u="none">
                <a:solidFill>
                  <a:srgbClr val="94A3B8"/>
                </a:solidFill>
                <a:latin typeface="Inter"/>
              </a:rPr>
              <a:t>• Tích hợp các cổng thanh toán điện tử trực tuyến (VNPay, MoMo API).</a:t>
            </a:r>
          </a:p>
        </p:txBody>
      </p:sp>
      <p:sp>
        <p:nvSpPr>
          <p:cNvPr id="11" name="TextBox 10"/>
          <p:cNvSpPr txBox="1"/>
          <p:nvPr/>
        </p:nvSpPr>
        <p:spPr>
          <a:xfrm>
            <a:off x="6581775" y="3670845"/>
            <a:ext cx="4733925" cy="457200"/>
          </a:xfrm>
          <a:prstGeom prst="rect">
            <a:avLst/>
          </a:prstGeom>
          <a:noFill/>
        </p:spPr>
        <p:txBody>
          <a:bodyPr wrap="square" lIns="0" rIns="0" tIns="0" bIns="0" anchor="t">
            <a:spAutoFit/>
          </a:bodyPr>
          <a:lstStyle/>
          <a:p>
            <a:pPr algn="l">
              <a:lnSpc>
                <a:spcPts val="1800"/>
              </a:lnSpc>
            </a:pPr>
            <a:r>
              <a:rPr b="0" sz="1200" i="0" u="none">
                <a:solidFill>
                  <a:srgbClr val="94A3B8"/>
                </a:solidFill>
                <a:latin typeface="Inter"/>
              </a:rPr>
              <a:t>• Xây dựng thuật toán AI gợi ý chọn Size giày thông minh cho khách.</a:t>
            </a:r>
          </a:p>
        </p:txBody>
      </p:sp>
      <p:sp>
        <p:nvSpPr>
          <p:cNvPr id="12" name="TextBox 11"/>
          <p:cNvSpPr txBox="1"/>
          <p:nvPr/>
        </p:nvSpPr>
        <p:spPr>
          <a:xfrm>
            <a:off x="6581775" y="4242345"/>
            <a:ext cx="4733925" cy="457200"/>
          </a:xfrm>
          <a:prstGeom prst="rect">
            <a:avLst/>
          </a:prstGeom>
          <a:noFill/>
        </p:spPr>
        <p:txBody>
          <a:bodyPr wrap="square" lIns="0" rIns="0" tIns="0" bIns="0" anchor="t">
            <a:spAutoFit/>
          </a:bodyPr>
          <a:lstStyle/>
          <a:p>
            <a:pPr algn="l">
              <a:lnSpc>
                <a:spcPts val="1800"/>
              </a:lnSpc>
            </a:pPr>
            <a:r>
              <a:rPr b="0" sz="1200" i="0" u="none">
                <a:solidFill>
                  <a:srgbClr val="94A3B8"/>
                </a:solidFill>
                <a:latin typeface="Inter"/>
              </a:rPr>
              <a:t>• Mở rộng ứng dụng di động (Mobile App) đồng bộ dữ liệu ASP.NET Web API.</a:t>
            </a:r>
          </a:p>
        </p:txBody>
      </p:sp>
      <p:pic>
        <p:nvPicPr>
          <p:cNvPr id="13" name="Picture 12" descr="image.png"/>
          <p:cNvPicPr>
            <a:picLocks noChangeAspect="1"/>
          </p:cNvPicPr>
          <p:nvPr/>
        </p:nvPicPr>
        <p:blipFill>
          <a:blip r:embed="rId5"/>
          <a:stretch>
            <a:fillRect/>
          </a:stretch>
        </p:blipFill>
        <p:spPr>
          <a:xfrm>
            <a:off x="876300" y="2718345"/>
            <a:ext cx="209550" cy="209550"/>
          </a:xfrm>
          <a:prstGeom prst="rect">
            <a:avLst/>
          </a:prstGeom>
        </p:spPr>
      </p:pic>
      <p:pic>
        <p:nvPicPr>
          <p:cNvPr id="14" name="Picture 13" descr="image.png"/>
          <p:cNvPicPr>
            <a:picLocks noChangeAspect="1"/>
          </p:cNvPicPr>
          <p:nvPr/>
        </p:nvPicPr>
        <p:blipFill>
          <a:blip r:embed="rId6"/>
          <a:stretch>
            <a:fillRect/>
          </a:stretch>
        </p:blipFill>
        <p:spPr>
          <a:xfrm>
            <a:off x="6581775" y="2718345"/>
            <a:ext cx="209550" cy="209550"/>
          </a:xfrm>
          <a:prstGeom prst="rect">
            <a:avLst/>
          </a:prstGeom>
        </p:spPr>
      </p:pic>
      <p:sp>
        <p:nvSpPr>
          <p:cNvPr id="15" name="TextBox 14"/>
          <p:cNvSpPr txBox="1"/>
          <p:nvPr/>
        </p:nvSpPr>
        <p:spPr>
          <a:xfrm>
            <a:off x="723900" y="485775"/>
            <a:ext cx="11431428" cy="388590"/>
          </a:xfrm>
          <a:prstGeom prst="rect">
            <a:avLst/>
          </a:prstGeom>
          <a:noFill/>
        </p:spPr>
        <p:txBody>
          <a:bodyPr wrap="square" lIns="0" rIns="0" tIns="0" bIns="0" anchor="t">
            <a:spAutoFit/>
          </a:bodyPr>
          <a:lstStyle/>
          <a:p>
            <a:pPr algn="l">
              <a:lnSpc>
                <a:spcPts val="3060"/>
              </a:lnSpc>
            </a:pPr>
            <a:r>
              <a:rPr b="0" sz="2550" i="0" u="none">
                <a:solidFill>
                  <a:srgbClr val="F8FAFC"/>
                </a:solidFill>
                <a:latin typeface="Poppins SemiBold"/>
              </a:rPr>
              <a:t>Đánh Giá </a:t>
            </a:r>
            <a:r>
              <a:rPr b="0" sz="2550" i="0" u="none">
                <a:solidFill>
                  <a:srgbClr val="38BDF8"/>
                </a:solidFill>
                <a:latin typeface="Poppins SemiBold"/>
              </a:rPr>
              <a:t>&amp; Hướng Phát Triển</a:t>
            </a:r>
          </a:p>
        </p:txBody>
      </p:sp>
      <p:sp>
        <p:nvSpPr>
          <p:cNvPr id="16" name="Rectangle 15"/>
          <p:cNvSpPr/>
          <p:nvPr/>
        </p:nvSpPr>
        <p:spPr>
          <a:xfrm>
            <a:off x="581025" y="485775"/>
            <a:ext cx="47625" cy="38859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3586162" y="4286250"/>
            <a:ext cx="5019675" cy="514350"/>
          </a:xfrm>
          <a:prstGeom prst="rect">
            <a:avLst/>
          </a:prstGeom>
        </p:spPr>
      </p:pic>
      <p:sp>
        <p:nvSpPr>
          <p:cNvPr id="4" name="TextBox 3"/>
          <p:cNvSpPr txBox="1"/>
          <p:nvPr/>
        </p:nvSpPr>
        <p:spPr>
          <a:xfrm>
            <a:off x="1449481" y="2057400"/>
            <a:ext cx="9293036" cy="857250"/>
          </a:xfrm>
          <a:prstGeom prst="rect">
            <a:avLst/>
          </a:prstGeom>
          <a:noFill/>
        </p:spPr>
        <p:txBody>
          <a:bodyPr wrap="square" lIns="0" rIns="0" tIns="0" bIns="0" anchor="t">
            <a:spAutoFit/>
          </a:bodyPr>
          <a:lstStyle/>
          <a:p>
            <a:pPr algn="ctr"/>
            <a:r>
              <a:rPr b="0" sz="4500" i="0" u="none">
                <a:solidFill>
                  <a:srgbClr val="38BDF8"/>
                </a:solidFill>
                <a:latin typeface="Poppins SemiBold"/>
              </a:rPr>
              <a:t>CẢM ƠN THẦY CÔ &amp; HỘI ĐỒNG!</a:t>
            </a:r>
          </a:p>
        </p:txBody>
      </p:sp>
      <p:sp>
        <p:nvSpPr>
          <p:cNvPr id="5" name="TextBox 4"/>
          <p:cNvSpPr txBox="1"/>
          <p:nvPr/>
        </p:nvSpPr>
        <p:spPr>
          <a:xfrm>
            <a:off x="3514725" y="3057525"/>
            <a:ext cx="5162550" cy="314325"/>
          </a:xfrm>
          <a:prstGeom prst="rect">
            <a:avLst/>
          </a:prstGeom>
          <a:noFill/>
        </p:spPr>
        <p:txBody>
          <a:bodyPr wrap="square" lIns="0" rIns="0" tIns="0" bIns="0" anchor="t">
            <a:spAutoFit/>
          </a:bodyPr>
          <a:lstStyle/>
          <a:p>
            <a:pPr algn="ctr">
              <a:lnSpc>
                <a:spcPts val="2475"/>
              </a:lnSpc>
            </a:pPr>
            <a:r>
              <a:rPr b="0" sz="1650" i="0" u="none">
                <a:solidFill>
                  <a:srgbClr val="CBD5E1"/>
                </a:solidFill>
                <a:latin typeface="Inter"/>
              </a:rPr>
              <a:t>Sinh viên thực hiện: Đoàn Duy Anh - Lớp: DK25TTC2</a:t>
            </a:r>
          </a:p>
        </p:txBody>
      </p:sp>
      <p:sp>
        <p:nvSpPr>
          <p:cNvPr id="6" name="TextBox 5"/>
          <p:cNvSpPr txBox="1"/>
          <p:nvPr/>
        </p:nvSpPr>
        <p:spPr>
          <a:xfrm>
            <a:off x="2347912" y="3581400"/>
            <a:ext cx="7496175" cy="257175"/>
          </a:xfrm>
          <a:prstGeom prst="rect">
            <a:avLst/>
          </a:prstGeom>
          <a:noFill/>
        </p:spPr>
        <p:txBody>
          <a:bodyPr wrap="square" lIns="0" rIns="0" tIns="0" bIns="0" anchor="t">
            <a:spAutoFit/>
          </a:bodyPr>
          <a:lstStyle/>
          <a:p>
            <a:pPr algn="ctr">
              <a:lnSpc>
                <a:spcPts val="2025"/>
              </a:lnSpc>
            </a:pPr>
            <a:r>
              <a:rPr b="0" sz="1350" i="0" u="none">
                <a:solidFill>
                  <a:srgbClr val="94A3B8"/>
                </a:solidFill>
                <a:latin typeface="Inter"/>
              </a:rPr>
              <a:t>Đồ án tốt nghiệp / môn học: Website Bán Giày Dép Trực Tuyến bằng ASP.NET &amp; SQL Server</a:t>
            </a:r>
          </a:p>
        </p:txBody>
      </p:sp>
      <p:pic>
        <p:nvPicPr>
          <p:cNvPr id="7" name="Picture 6" descr="image.png"/>
          <p:cNvPicPr>
            <a:picLocks noChangeAspect="1"/>
          </p:cNvPicPr>
          <p:nvPr/>
        </p:nvPicPr>
        <p:blipFill>
          <a:blip r:embed="rId4"/>
          <a:stretch>
            <a:fillRect/>
          </a:stretch>
        </p:blipFill>
        <p:spPr>
          <a:xfrm>
            <a:off x="3929062" y="4467225"/>
            <a:ext cx="190500" cy="1524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81025" y="3504158"/>
            <a:ext cx="857250" cy="476250"/>
          </a:xfrm>
          <a:prstGeom prst="rect">
            <a:avLst/>
          </a:prstGeom>
        </p:spPr>
      </p:pic>
      <p:sp>
        <p:nvSpPr>
          <p:cNvPr id="4" name="TextBox 3"/>
          <p:cNvSpPr txBox="1"/>
          <p:nvPr/>
        </p:nvSpPr>
        <p:spPr>
          <a:xfrm>
            <a:off x="1676400" y="3511301"/>
            <a:ext cx="9934575" cy="185737"/>
          </a:xfrm>
          <a:prstGeom prst="rect">
            <a:avLst/>
          </a:prstGeom>
          <a:noFill/>
        </p:spPr>
        <p:txBody>
          <a:bodyPr wrap="square" lIns="0" rIns="0" tIns="0" bIns="0" anchor="t">
            <a:spAutoFit/>
          </a:bodyPr>
          <a:lstStyle/>
          <a:p>
            <a:pPr algn="l">
              <a:lnSpc>
                <a:spcPts val="1462"/>
              </a:lnSpc>
            </a:pPr>
            <a:r>
              <a:rPr b="0" sz="975" i="0" u="none">
                <a:solidFill>
                  <a:srgbClr val="F8FAFC"/>
                </a:solidFill>
                <a:latin typeface="Inter"/>
              </a:rPr>
              <a:t>https://www.sourcecodester.com/sites/default/files/images/philldevcoder/screenshot-from-2024-09-24-18-10-27_0.png</a:t>
            </a:r>
          </a:p>
        </p:txBody>
      </p:sp>
      <p:sp>
        <p:nvSpPr>
          <p:cNvPr id="5" name="TextBox 4"/>
          <p:cNvSpPr txBox="1"/>
          <p:nvPr/>
        </p:nvSpPr>
        <p:spPr>
          <a:xfrm>
            <a:off x="1676400" y="3744664"/>
            <a:ext cx="9934575" cy="228600"/>
          </a:xfrm>
          <a:prstGeom prst="rect">
            <a:avLst/>
          </a:prstGeom>
          <a:noFill/>
        </p:spPr>
        <p:txBody>
          <a:bodyPr wrap="square" lIns="0" rIns="0" tIns="0" bIns="0" anchor="t">
            <a:spAutoFit/>
          </a:bodyPr>
          <a:lstStyle/>
          <a:p>
            <a:pPr algn="l">
              <a:lnSpc>
                <a:spcPts val="1800"/>
              </a:lnSpc>
            </a:pPr>
            <a:r>
              <a:rPr b="0" sz="1200" i="0" u="none">
                <a:solidFill>
                  <a:srgbClr val="F8FAFC"/>
                </a:solidFill>
                <a:latin typeface="Inter"/>
              </a:rPr>
              <a:t>Source: </a:t>
            </a:r>
            <a:r>
              <a:rPr b="0" sz="1200" i="0" u="none">
                <a:solidFill>
                  <a:srgbClr val="4F46E5"/>
                </a:solidFill>
                <a:latin typeface="Inter"/>
              </a:rPr>
              <a:t>www.sourcecodester.com</a:t>
            </a:r>
          </a:p>
        </p:txBody>
      </p:sp>
      <p:sp>
        <p:nvSpPr>
          <p:cNvPr id="6" name="TextBox 5"/>
          <p:cNvSpPr txBox="1"/>
          <p:nvPr/>
        </p:nvSpPr>
        <p:spPr>
          <a:xfrm>
            <a:off x="723900" y="485775"/>
            <a:ext cx="11431428" cy="388590"/>
          </a:xfrm>
          <a:prstGeom prst="rect">
            <a:avLst/>
          </a:prstGeom>
          <a:noFill/>
        </p:spPr>
        <p:txBody>
          <a:bodyPr wrap="square" lIns="0" rIns="0" tIns="0" bIns="0" anchor="t">
            <a:spAutoFit/>
          </a:bodyPr>
          <a:lstStyle/>
          <a:p>
            <a:pPr algn="l">
              <a:lnSpc>
                <a:spcPts val="3060"/>
              </a:lnSpc>
            </a:pPr>
            <a:r>
              <a:rPr b="0" sz="2550" i="0" u="none">
                <a:solidFill>
                  <a:srgbClr val="F8FAFC"/>
                </a:solidFill>
                <a:latin typeface="Poppins SemiBold"/>
              </a:rPr>
              <a:t>Image Sources</a:t>
            </a:r>
          </a:p>
        </p:txBody>
      </p:sp>
      <p:sp>
        <p:nvSpPr>
          <p:cNvPr id="7" name="Rectangle 6"/>
          <p:cNvSpPr/>
          <p:nvPr/>
        </p:nvSpPr>
        <p:spPr>
          <a:xfrm>
            <a:off x="581025" y="485775"/>
            <a:ext cx="47625" cy="38859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